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EB74F6-B1EC-4DE6-8422-5924D1800F88}">
  <a:tblStyle styleId="{37EB74F6-B1EC-4DE6-8422-5924D1800F8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422df3dbd2f873c5_11_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h422df3dbd2f873c5_11_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h422df3dbd2f873c5_11_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422df3dbd2f873c5_11_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h422df3dbd2f873c5_11_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h422df3dbd2f873c5_11_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422df3dbd2f873c5_11_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h422df3dbd2f873c5_11_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Empiezo con mi parte: el protocolo HTTP. Es la base de todo lo que hacemos en la web: cada vez que abrimos una página, el navegador y el servidor se comunican usando HTTP.</a:t>
            </a:r>
            <a:endParaRPr/>
          </a:p>
        </p:txBody>
      </p:sp>
      <p:sp>
        <p:nvSpPr>
          <p:cNvPr id="103" name="Google Shape;103;h422df3dbd2f873c5_11_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22df3dbd2f873c5_11_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h422df3dbd2f873c5_11_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 es el protocolo de la capa de aplicación con el que navegador y servidor intercambian información. Cuatro ideas clave: funciona con el modelo cliente-servidor (petición y respuesta); no tiene estado, es decir, el servidor no recuerda las peticiones anteriores, y por eso usamos cookies, sesiones o tokens para cosas como el login; hasta HTTP/1.1 los mensajes son texto legible; y va sobre TCP en el puerto 80, o 443 si es HTTPS. La versión 3 cambia a QUIC sobre UDP.</a:t>
            </a:r>
            <a:endParaRPr/>
          </a:p>
        </p:txBody>
      </p:sp>
      <p:sp>
        <p:nvSpPr>
          <p:cNvPr id="113" name="Google Shape;113;h422df3dbd2f873c5_11_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422df3dbd2f873c5_11_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h422df3dbd2f873c5_11_9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Antes de ver los mensajes, conviene saber cómo se identifica un recurso: con una URL. Tiene cinco partes: el protocolo (http o https), el dominio, que el DNS traduce a IP, el puerto, que normalmente no escribimos porque se usa el 80 o el 443 por defecto, la ruta del recurso dentro del servidor y los parámetros, que van después de la interrogación con formato clave=valor.</a:t>
            </a:r>
            <a:endParaRPr/>
          </a:p>
        </p:txBody>
      </p:sp>
      <p:sp>
        <p:nvSpPr>
          <p:cNvPr id="148" name="Google Shape;148;h422df3dbd2f873c5_11_9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422df3dbd2f873c5_11_1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h422df3dbd2f873c5_11_1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 ha ido evolucionando. La 0.9 de 1991 era muy básica: solo GET y HTML. La 1.0 añadió cabeceras y códigos de estado. La 1.1 de 1997 trajo las conexiones persistentes y la cabecera Host, que permite tener varias webs en el mismo servidor. HTTP/2 pasó a ser binario y permite enviar varias peticiones a la vez por la misma conexión. Y la más reciente, HTTP/3, deja TCP y usa QUIC sobre UDP, lo que la hace más rápida, sobre todo en redes móviles o inestables.</a:t>
            </a:r>
            <a:endParaRPr/>
          </a:p>
        </p:txBody>
      </p:sp>
      <p:sp>
        <p:nvSpPr>
          <p:cNvPr id="188" name="Google Shape;188;h422df3dbd2f873c5_11_1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422df3dbd2f873c5_11_1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h422df3dbd2f873c5_11_1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Así son los mensajes por dentro. La petición empieza con una línea que tiene el método, el recurso y la versión; luego vienen las cabeceras, una línea en blanco y, si hace falta, el cuerpo. La respuesta tiene la misma estructura, pero la primera línea es la línea de estado: versión, código y mensaje, por ejemplo 200 OK. En el cuerpo de la respuesta va el recurso, aquí el HTML de la página.</a:t>
            </a:r>
            <a:endParaRPr/>
          </a:p>
        </p:txBody>
      </p:sp>
      <p:sp>
        <p:nvSpPr>
          <p:cNvPr id="223" name="Google Shape;223;h422df3dbd2f873c5_11_1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422df3dbd2f873c5_11_2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h422df3dbd2f873c5_11_20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método indica qué queremos hacer con el recurso. Los cinco principales encajan con el CRUD que usamos en las bases de datos: GET para leer, POST para crear, PUT y PATCH para actualizar (PUT reemplaza el recurso entero y PATCH solo una parte) y DELETE para borrar. HEAD y OPTIONS son de consulta. Dos conceptos útiles: los métodos seguros no modifican nada, y los idempotentes dan el mismo resultado aunque los repitas. Por eso, si recargas un formulario enviado con POST, el navegador te avisa de que vas a reenviarlo.</a:t>
            </a:r>
            <a:endParaRPr/>
          </a:p>
        </p:txBody>
      </p:sp>
      <p:sp>
        <p:nvSpPr>
          <p:cNvPr id="264" name="Google Shape;264;h422df3dbd2f873c5_11_20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422df3dbd2f873c5_11_2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h422df3dbd2f873c5_11_26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Cada respuesta lleva un código de estado de tres cifras. La primera cifra indica la categoría: los 1xx son informativos; los 2xx, éxito, como el 200 OK o el 201 cuando se crea algo; los 3xx, redirecciones, como el 301 cuando una página se ha movido; los 4xx son errores del cliente, el más famoso es el 404 Not Found, y el 401 y el 403 tienen que ver con permisos; y los 5xx son errores del servidor, como el 500. Truco para recordarlo: si empieza por 4, el fallo es tuyo; si empieza por 5, es del servidor.</a:t>
            </a:r>
            <a:endParaRPr/>
          </a:p>
        </p:txBody>
      </p:sp>
      <p:sp>
        <p:nvSpPr>
          <p:cNvPr id="327" name="Google Shape;327;h422df3dbd2f873c5_11_26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h422df3dbd2f873c5_11_3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h422df3dbd2f873c5_11_3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HTTPS es HTTP con una capa de cifrado TLS por debajo, y usa el puerto 443. Nos garantiza tres cosas: confidencialidad, porque nadie puede leer lo que enviamos; integridad, porque no se puede modificar sin que se note; y autenticación, porque el servidor demuestra con un certificado digital que es quien dice ser. Hoy los navegadores marcan como 'No seguro' cualquier web que vaya solo por HTTP.</a:t>
            </a:r>
            <a:endParaRPr/>
          </a:p>
        </p:txBody>
      </p:sp>
      <p:sp>
        <p:nvSpPr>
          <p:cNvPr id="357" name="Google Shape;357;h422df3dbd2f873c5_11_3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422df3dbd2f873c5_11_3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h422df3dbd2f873c5_11_3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terminar mi parte, juntamos todo con un ejemplo. Escribimos la URL; el DNS la traduce a una IP; se abre la conexión TCP y, como es HTTPS, se negocia el cifrado TLS; el navegador envía un GET; el servidor responde 200 OK con el HTML; el navegador lee ese HTML y lanza nuevas peticiones para el CSS, el JavaScript y las imágenes; y, por último, pinta la página. HTTP es lo que conecta las capas de las arquitecturas web que va a explicar ahora mi compañero, y SSH, que veremos al final, se usa para administrar esos servidores.</a:t>
            </a:r>
            <a:endParaRPr/>
          </a:p>
        </p:txBody>
      </p:sp>
      <p:sp>
        <p:nvSpPr>
          <p:cNvPr id="387" name="Google Shape;387;h422df3dbd2f873c5_11_3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422df3dbd2f873c5_11_4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h422df3dbd2f873c5_11_4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h422df3dbd2f873c5_11_4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422df3dbd2f873c5_11_4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h422df3dbd2f873c5_11_4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h422df3dbd2f873c5_11_4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h422df3dbd2f873c5_11_4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h422df3dbd2f873c5_11_4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h422df3dbd2f873c5_11_4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h422df3dbd2f873c5_11_5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h422df3dbd2f873c5_11_50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h422df3dbd2f873c5_11_50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422df3dbd2f873c5_11_5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h422df3dbd2f873c5_11_5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h422df3dbd2f873c5_11_5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h422df3dbd2f873c5_11_5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h422df3dbd2f873c5_11_5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h422df3dbd2f873c5_11_5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422df3dbd2f873c5_19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h422df3dbd2f873c5_19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h422df3dbd2f873c5_19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h422df3dbd2f873c5_11_5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h422df3dbd2f873c5_11_5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h422df3dbd2f873c5_11_5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h422df3dbd2f873c5_11_6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h422df3dbd2f873c5_11_6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h422df3dbd2f873c5_11_6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h422df3dbd2f873c5_11_6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h422df3dbd2f873c5_11_6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h422df3dbd2f873c5_11_6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SCURO">
  <p:cSld name="OSCURO">
    <p:bg>
      <p:bgPr>
        <a:solidFill>
          <a:srgbClr val="161A26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rgbClr val="F5F6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2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HTTP · Arquitecturas web · SSH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B2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2º DAW · IES Amparo Sanz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548640" y="1097280"/>
            <a:ext cx="4937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Modelos de Arquitecturas Web y Protocolos de Comunicación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7"/>
          <p:cNvSpPr txBox="1"/>
          <p:nvPr/>
        </p:nvSpPr>
        <p:spPr>
          <a:xfrm>
            <a:off x="548640" y="31089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F2603D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r>
              <a:rPr b="0" i="0" lang="es" sz="1700" u="none" cap="none" strike="noStrike">
                <a:solidFill>
                  <a:srgbClr val="6B7286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s" sz="1700" u="none" cap="none" strike="noStrike">
                <a:solidFill>
                  <a:srgbClr val="A898FF"/>
                </a:solidFill>
                <a:latin typeface="Arial"/>
                <a:ea typeface="Arial"/>
                <a:cs typeface="Arial"/>
                <a:sym typeface="Arial"/>
              </a:rPr>
              <a:t>Arquitecturas web</a:t>
            </a:r>
            <a:r>
              <a:rPr b="0" i="0" lang="es" sz="1700" u="none" cap="none" strike="noStrike">
                <a:solidFill>
                  <a:srgbClr val="6B7286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s" sz="1700" u="none" cap="none" strike="noStrike">
                <a:solidFill>
                  <a:srgbClr val="3FD49B"/>
                </a:solidFill>
                <a:latin typeface="Arial"/>
                <a:ea typeface="Arial"/>
                <a:cs typeface="Arial"/>
                <a:sym typeface="Arial"/>
              </a:rPr>
              <a:t>SSH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7"/>
          <p:cNvSpPr/>
          <p:nvPr/>
        </p:nvSpPr>
        <p:spPr>
          <a:xfrm>
            <a:off x="5760720" y="960120"/>
            <a:ext cx="2926080" cy="3108960"/>
          </a:xfrm>
          <a:prstGeom prst="roundRect">
            <a:avLst>
              <a:gd fmla="val 3750" name="adj"/>
            </a:avLst>
          </a:prstGeom>
          <a:solidFill>
            <a:srgbClr val="1F2433"/>
          </a:solidFill>
          <a:ln cap="flat" cmpd="sng" w="12700">
            <a:solidFill>
              <a:srgbClr val="343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7"/>
          <p:cNvSpPr/>
          <p:nvPr/>
        </p:nvSpPr>
        <p:spPr>
          <a:xfrm>
            <a:off x="5943600" y="1143000"/>
            <a:ext cx="100584" cy="100584"/>
          </a:xfrm>
          <a:prstGeom prst="ellipse">
            <a:avLst/>
          </a:prstGeom>
          <a:solidFill>
            <a:srgbClr val="E5484D"/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7"/>
          <p:cNvSpPr/>
          <p:nvPr/>
        </p:nvSpPr>
        <p:spPr>
          <a:xfrm>
            <a:off x="6108192" y="1143000"/>
            <a:ext cx="100584" cy="100584"/>
          </a:xfrm>
          <a:prstGeom prst="ellipse">
            <a:avLst/>
          </a:prstGeom>
          <a:solidFill>
            <a:srgbClr val="E2961A"/>
          </a:solidFill>
          <a:ln cap="flat" cmpd="sng" w="9525">
            <a:solidFill>
              <a:srgbClr val="E296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7"/>
          <p:cNvSpPr/>
          <p:nvPr/>
        </p:nvSpPr>
        <p:spPr>
          <a:xfrm>
            <a:off x="6272784" y="1143000"/>
            <a:ext cx="100584" cy="100584"/>
          </a:xfrm>
          <a:prstGeom prst="ellipse">
            <a:avLst/>
          </a:prstGeom>
          <a:solidFill>
            <a:srgbClr val="1FA971"/>
          </a:solidFill>
          <a:ln cap="flat" cmpd="sng" w="9525">
            <a:solidFill>
              <a:srgbClr val="1FA9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6492240" y="1088136"/>
            <a:ext cx="2011680" cy="219456"/>
          </a:xfrm>
          <a:prstGeom prst="roundRect">
            <a:avLst>
              <a:gd fmla="val 50000" name="adj"/>
            </a:avLst>
          </a:prstGeom>
          <a:solidFill>
            <a:srgbClr val="2C3245"/>
          </a:solidFill>
          <a:ln cap="flat" cmpd="sng" w="12700">
            <a:solidFill>
              <a:srgbClr val="2C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6492240" y="1088136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BDCC"/>
              </a:buClr>
              <a:buSzPts val="800"/>
              <a:buFont typeface="Courier New"/>
              <a:buNone/>
            </a:pPr>
            <a:r>
              <a:rPr b="0" i="0" lang="es" sz="800" u="none" cap="none" strike="noStrike">
                <a:solidFill>
                  <a:srgbClr val="B7BDCC"/>
                </a:solidFill>
                <a:latin typeface="Courier New"/>
                <a:ea typeface="Courier New"/>
                <a:cs typeface="Courier New"/>
                <a:sym typeface="Courier New"/>
              </a:rPr>
              <a:t>https://www.ejemplo.com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7"/>
          <p:cNvSpPr txBox="1"/>
          <p:nvPr/>
        </p:nvSpPr>
        <p:spPr>
          <a:xfrm>
            <a:off x="6035040" y="155448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F2603D"/>
                </a:solidFill>
                <a:latin typeface="Courier New"/>
                <a:ea typeface="Courier New"/>
                <a:cs typeface="Courier New"/>
                <a:sym typeface="Courier New"/>
              </a:rPr>
              <a:t>GET / HTTP/1.1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7BDCC"/>
              </a:buClr>
              <a:buSzPts val="1100"/>
              <a:buFont typeface="Courier New"/>
              <a:buNone/>
            </a:pPr>
            <a:r>
              <a:rPr b="0" i="0" lang="es" sz="1100" u="none" cap="none" strike="noStrike">
                <a:solidFill>
                  <a:srgbClr val="B7BDCC"/>
                </a:solidFill>
                <a:latin typeface="Courier New"/>
                <a:ea typeface="Courier New"/>
                <a:cs typeface="Courier New"/>
                <a:sym typeface="Courier New"/>
              </a:rPr>
              <a:t>Host: www.ejemplo.com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230"/>
              </a:buClr>
              <a:buSzPts val="1100"/>
              <a:buFont typeface="Courier New"/>
              <a:buNone/>
            </a:pPr>
            <a:r>
              <a:rPr b="0" i="0" lang="es" sz="1100" u="none" cap="none" strike="noStrike">
                <a:solidFill>
                  <a:srgbClr val="1E223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FD49B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3FD49B"/>
                </a:solidFill>
                <a:latin typeface="Courier New"/>
                <a:ea typeface="Courier New"/>
                <a:cs typeface="Courier New"/>
                <a:sym typeface="Courier New"/>
              </a:rPr>
              <a:t>HTTP/1.1 200 OK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7BDCC"/>
              </a:buClr>
              <a:buSzPts val="1100"/>
              <a:buFont typeface="Courier New"/>
              <a:buNone/>
            </a:pPr>
            <a:r>
              <a:rPr b="0" i="0" lang="es" sz="1100" u="none" cap="none" strike="noStrike">
                <a:solidFill>
                  <a:srgbClr val="B7BDCC"/>
                </a:solidFill>
                <a:latin typeface="Courier New"/>
                <a:ea typeface="Courier New"/>
                <a:cs typeface="Courier New"/>
                <a:sym typeface="Courier New"/>
              </a:rPr>
              <a:t>Content-Type: text/html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230"/>
              </a:buClr>
              <a:buSzPts val="1100"/>
              <a:buFont typeface="Courier New"/>
              <a:buNone/>
            </a:pPr>
            <a:r>
              <a:rPr b="0" i="0" lang="es" sz="1100" u="none" cap="none" strike="noStrike">
                <a:solidFill>
                  <a:srgbClr val="1E223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A898FF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A898FF"/>
                </a:solidFill>
                <a:latin typeface="Courier New"/>
                <a:ea typeface="Courier New"/>
                <a:cs typeface="Courier New"/>
                <a:sym typeface="Courier New"/>
              </a:rPr>
              <a:t>$ ssh admin@servidor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B7BDCC"/>
              </a:buClr>
              <a:buSzPts val="1100"/>
              <a:buFont typeface="Courier New"/>
              <a:buNone/>
            </a:pPr>
            <a:r>
              <a:rPr b="0" i="0" lang="es" sz="1100" u="none" cap="none" strike="noStrike">
                <a:solidFill>
                  <a:srgbClr val="B7BDCC"/>
                </a:solidFill>
                <a:latin typeface="Courier New"/>
                <a:ea typeface="Courier New"/>
                <a:cs typeface="Courier New"/>
                <a:sym typeface="Courier New"/>
              </a:rPr>
              <a:t>admin@servidor:~$ _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7"/>
          <p:cNvSpPr txBox="1"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6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6B7286"/>
                </a:solidFill>
                <a:latin typeface="Arial"/>
                <a:ea typeface="Arial"/>
                <a:cs typeface="Arial"/>
                <a:sym typeface="Arial"/>
              </a:rPr>
              <a:t>Curso 2026/2027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457200" y="228600"/>
            <a:ext cx="973836" cy="237744"/>
          </a:xfrm>
          <a:prstGeom prst="roundRect">
            <a:avLst>
              <a:gd fmla="val 50000" name="adj"/>
            </a:avLst>
          </a:prstGeom>
          <a:solidFill>
            <a:srgbClr val="161A26"/>
          </a:solidFill>
          <a:ln cap="flat" cmpd="sng" w="9525">
            <a:solidFill>
              <a:srgbClr val="161A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/>
        </p:nvSpPr>
        <p:spPr>
          <a:xfrm>
            <a:off x="457200" y="228600"/>
            <a:ext cx="9738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&lt;indice/&gt;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8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8"/>
          <p:cNvSpPr/>
          <p:nvPr/>
        </p:nvSpPr>
        <p:spPr>
          <a:xfrm>
            <a:off x="457200" y="1325880"/>
            <a:ext cx="2651760" cy="306324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8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17602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11680" y="16002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5D9E3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000" u="none" cap="none" strike="noStrike">
              <a:solidFill>
                <a:srgbClr val="1E22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731520" y="246888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2603D"/>
                </a:solidFill>
                <a:latin typeface="Arial"/>
                <a:ea typeface="Arial"/>
                <a:cs typeface="Arial"/>
                <a:sym typeface="Arial"/>
              </a:rPr>
              <a:t>Protocolo HTTP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731520" y="320040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Cómo se comunican el navegador y el servidor: mensajes, métodos, códigos de estado y HTTPS.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3291840" y="1325880"/>
            <a:ext cx="2651760" cy="306324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3566160" y="1600200"/>
            <a:ext cx="640080" cy="640080"/>
          </a:xfrm>
          <a:prstGeom prst="ellipse">
            <a:avLst/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6180" y="17602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846320" y="16002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5D9E3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000" u="none" cap="none" strike="noStrike">
              <a:solidFill>
                <a:srgbClr val="1E22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3566160" y="246888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7B61FF"/>
                </a:solidFill>
                <a:latin typeface="Arial"/>
                <a:ea typeface="Arial"/>
                <a:cs typeface="Arial"/>
                <a:sym typeface="Arial"/>
              </a:rPr>
              <a:t>Modelos de arquitecturas web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566160" y="320040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P2P, cliente-servidor y modelos con servidor de aplicaciones.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6126480" y="1325880"/>
            <a:ext cx="2651760" cy="306324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6400800" y="1600200"/>
            <a:ext cx="640080" cy="640080"/>
          </a:xfrm>
          <a:prstGeom prst="ellipse">
            <a:avLst/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0820" y="17602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7680960" y="160020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5D9E3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000" u="none" cap="none" strike="noStrike">
              <a:solidFill>
                <a:srgbClr val="1E22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6400800" y="246888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7A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1FAF7A"/>
                </a:solidFill>
                <a:latin typeface="Arial"/>
                <a:ea typeface="Arial"/>
                <a:cs typeface="Arial"/>
                <a:sym typeface="Arial"/>
              </a:rPr>
              <a:t>Protocolo SSH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6400800" y="320040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Conexión remota y cifrada para administrar servidores.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731520" y="7772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8000"/>
              <a:buFont typeface="Arial"/>
              <a:buNone/>
            </a:pPr>
            <a:r>
              <a:rPr b="1" i="0" lang="es" sz="8000" u="none" cap="none" strike="noStrike">
                <a:solidFill>
                  <a:srgbClr val="F260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731520" y="1828800"/>
            <a:ext cx="5394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Protocolo HTTP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731520" y="333756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DCC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B7BDCC"/>
                </a:solidFill>
                <a:latin typeface="Arial"/>
                <a:ea typeface="Arial"/>
                <a:cs typeface="Arial"/>
                <a:sym typeface="Arial"/>
              </a:rPr>
              <a:t>HyperText Transfer Protocol: el idioma en el que hablan la web y los navegadores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6309360" y="1325880"/>
            <a:ext cx="2377440" cy="2377440"/>
          </a:xfrm>
          <a:prstGeom prst="ellipse">
            <a:avLst/>
          </a:prstGeom>
          <a:solidFill>
            <a:srgbClr val="F2603D">
              <a:alpha val="14902"/>
            </a:srgbClr>
          </a:solidFill>
          <a:ln cap="flat" cmpd="sng" w="19050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196596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457200" y="228600"/>
            <a:ext cx="818388" cy="237744"/>
          </a:xfrm>
          <a:prstGeom prst="roundRect">
            <a:avLst>
              <a:gd fmla="val 50000" name="adj"/>
            </a:avLst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457200" y="228600"/>
            <a:ext cx="8183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&lt;http/&gt;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¿Qué es HTTP?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457200" y="1234440"/>
            <a:ext cx="3383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2603D"/>
                </a:solidFill>
                <a:latin typeface="Arial"/>
                <a:ea typeface="Arial"/>
                <a:cs typeface="Arial"/>
                <a:sym typeface="Arial"/>
              </a:rPr>
              <a:t>HTTP (HyperText Transfer Protocol) </a:t>
            </a:r>
            <a:r>
              <a:rPr b="0" i="0" lang="es" sz="15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es el protocolo de la capa de aplicación que usan los navegadores y los servidores web para intercambiar información: páginas HTML, imágenes, CSS, JSON de una API, etc.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457200" y="3154680"/>
            <a:ext cx="3383280" cy="1325880"/>
          </a:xfrm>
          <a:prstGeom prst="roundRect">
            <a:avLst>
              <a:gd fmla="val 6897" name="adj"/>
            </a:avLst>
          </a:prstGeom>
          <a:solidFill>
            <a:srgbClr val="FDEBE5"/>
          </a:solidFill>
          <a:ln cap="flat" cmpd="sng" w="9525">
            <a:solidFill>
              <a:srgbClr val="FDE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34518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/>
        </p:nvSpPr>
        <p:spPr>
          <a:xfrm>
            <a:off x="1234440" y="331012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Si no tiene estado, ¿cómo recuerda al usuario?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640080" y="388620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Con cookies, sesiones o tokens (por ejemplo, JWT): así funcionan el login o el carrito.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4114800" y="1188720"/>
            <a:ext cx="219456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4297680" y="1371600"/>
            <a:ext cx="438912" cy="438912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7408" y="14813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/>
        </p:nvSpPr>
        <p:spPr>
          <a:xfrm>
            <a:off x="4846326" y="1371600"/>
            <a:ext cx="1463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Cliente-servidor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297680" y="1938528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El cliente envía una petición (request) y el servidor devuelve una respuesta (response).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6492240" y="1188720"/>
            <a:ext cx="219456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6675120" y="1371600"/>
            <a:ext cx="438912" cy="438912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4848" y="14813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7223760" y="1371600"/>
            <a:ext cx="1325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Sin estado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6675120" y="1938528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Cada petición es independiente: el servidor no recuerda las anteriores.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4114800" y="2926080"/>
            <a:ext cx="219456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4297680" y="3108960"/>
            <a:ext cx="438912" cy="438912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7408" y="32186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4846320" y="3108960"/>
            <a:ext cx="1325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Basado en texto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4297680" y="3675888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Hasta HTTP/1.1 los mensajes se pueden leer a simple vista.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6492240" y="2926080"/>
            <a:ext cx="219456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6675120" y="3108960"/>
            <a:ext cx="438912" cy="438912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4848" y="32186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7223760" y="3108960"/>
            <a:ext cx="1325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Sobre TCP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6675120" y="3675888"/>
            <a:ext cx="1874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Puerto 80 (HTTP) y 443 (HTTPS). HTTP/3 usa QUIC sobre UDP.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/>
          <p:nvPr/>
        </p:nvSpPr>
        <p:spPr>
          <a:xfrm>
            <a:off x="457200" y="228600"/>
            <a:ext cx="818388" cy="237744"/>
          </a:xfrm>
          <a:prstGeom prst="roundRect">
            <a:avLst>
              <a:gd fmla="val 50000" name="adj"/>
            </a:avLst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457200" y="228600"/>
            <a:ext cx="8183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&lt;http/&gt;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Anatomía de una URL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Cada recurso de la web se identifica con una URL. Así se descompone: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576072" y="1691640"/>
            <a:ext cx="1487424" cy="658368"/>
          </a:xfrm>
          <a:prstGeom prst="roundRect">
            <a:avLst>
              <a:gd fmla="val 11111" name="adj"/>
            </a:avLst>
          </a:prstGeom>
          <a:solidFill>
            <a:srgbClr val="FDEBE5"/>
          </a:solidFill>
          <a:ln cap="flat" cmpd="sng" w="1587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1"/>
          <p:cNvSpPr txBox="1"/>
          <p:nvPr/>
        </p:nvSpPr>
        <p:spPr>
          <a:xfrm>
            <a:off x="576072" y="1691640"/>
            <a:ext cx="148742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2200"/>
              <a:buFont typeface="Courier New"/>
              <a:buNone/>
            </a:pPr>
            <a:r>
              <a:rPr b="1" i="0" lang="es" sz="2200" u="none" cap="none" strike="noStrike">
                <a:solidFill>
                  <a:srgbClr val="F2603D"/>
                </a:solidFill>
                <a:latin typeface="Courier New"/>
                <a:ea typeface="Courier New"/>
                <a:cs typeface="Courier New"/>
                <a:sym typeface="Courier New"/>
              </a:rPr>
              <a:t>https://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2118360" y="1691640"/>
            <a:ext cx="2660904" cy="658368"/>
          </a:xfrm>
          <a:prstGeom prst="roundRect">
            <a:avLst>
              <a:gd fmla="val 11111" name="adj"/>
            </a:avLst>
          </a:prstGeom>
          <a:solidFill>
            <a:srgbClr val="EEEAFF"/>
          </a:solidFill>
          <a:ln cap="flat" cmpd="sng" w="1587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2118360" y="1691640"/>
            <a:ext cx="26609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2200"/>
              <a:buFont typeface="Courier New"/>
              <a:buNone/>
            </a:pPr>
            <a:r>
              <a:rPr b="1" i="0" lang="es" sz="2200" u="none" cap="none" strike="noStrike">
                <a:solidFill>
                  <a:srgbClr val="7B61FF"/>
                </a:solidFill>
                <a:latin typeface="Courier New"/>
                <a:ea typeface="Courier New"/>
                <a:cs typeface="Courier New"/>
                <a:sym typeface="Courier New"/>
              </a:rPr>
              <a:t>www.ejemplo.com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4834128" y="1691640"/>
            <a:ext cx="816864" cy="658368"/>
          </a:xfrm>
          <a:prstGeom prst="roundRect">
            <a:avLst>
              <a:gd fmla="val 11111" name="adj"/>
            </a:avLst>
          </a:prstGeom>
          <a:solidFill>
            <a:srgbClr val="E2F6EE"/>
          </a:solidFill>
          <a:ln cap="flat" cmpd="sng" w="1587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4834128" y="1691640"/>
            <a:ext cx="81686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F7A"/>
              </a:buClr>
              <a:buSzPts val="2200"/>
              <a:buFont typeface="Courier New"/>
              <a:buNone/>
            </a:pPr>
            <a:r>
              <a:rPr b="1" i="0" lang="es" sz="2200" u="none" cap="none" strike="noStrike">
                <a:solidFill>
                  <a:srgbClr val="1FAF7A"/>
                </a:solidFill>
                <a:latin typeface="Courier New"/>
                <a:ea typeface="Courier New"/>
                <a:cs typeface="Courier New"/>
                <a:sym typeface="Courier New"/>
              </a:rPr>
              <a:t>:443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5705856" y="1691640"/>
            <a:ext cx="1822704" cy="658368"/>
          </a:xfrm>
          <a:prstGeom prst="roundRect">
            <a:avLst>
              <a:gd fmla="val 11111" name="adj"/>
            </a:avLst>
          </a:prstGeom>
          <a:solidFill>
            <a:srgbClr val="E6F0FD"/>
          </a:solidFill>
          <a:ln cap="flat" cmpd="sng" w="1587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5705856" y="1691640"/>
            <a:ext cx="18227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2200"/>
              <a:buFont typeface="Courier New"/>
              <a:buNone/>
            </a:pPr>
            <a:r>
              <a:rPr b="1" i="0" lang="es" sz="2200" u="none" cap="none" strike="noStrike">
                <a:solidFill>
                  <a:srgbClr val="2F80ED"/>
                </a:solidFill>
                <a:latin typeface="Courier New"/>
                <a:ea typeface="Courier New"/>
                <a:cs typeface="Courier New"/>
                <a:sym typeface="Courier New"/>
              </a:rPr>
              <a:t>/productos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7583424" y="1691640"/>
            <a:ext cx="984504" cy="658368"/>
          </a:xfrm>
          <a:prstGeom prst="roundRect">
            <a:avLst>
              <a:gd fmla="val 11111" name="adj"/>
            </a:avLst>
          </a:prstGeom>
          <a:solidFill>
            <a:srgbClr val="FCF1DE"/>
          </a:solidFill>
          <a:ln cap="flat" cmpd="sng" w="15875">
            <a:solidFill>
              <a:srgbClr val="E296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7583424" y="1691640"/>
            <a:ext cx="9845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961A"/>
              </a:buClr>
              <a:buSzPts val="2200"/>
              <a:buFont typeface="Courier New"/>
              <a:buNone/>
            </a:pPr>
            <a:r>
              <a:rPr b="1" i="0" lang="es" sz="2200" u="none" cap="none" strike="noStrike">
                <a:solidFill>
                  <a:srgbClr val="E2961A"/>
                </a:solidFill>
                <a:latin typeface="Courier New"/>
                <a:ea typeface="Courier New"/>
                <a:cs typeface="Courier New"/>
                <a:sym typeface="Courier New"/>
              </a:rPr>
              <a:t>?id=5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457200" y="2697480"/>
            <a:ext cx="1517904" cy="1737360"/>
          </a:xfrm>
          <a:prstGeom prst="roundRect">
            <a:avLst>
              <a:gd fmla="val 602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621792" y="2926080"/>
            <a:ext cx="146304" cy="146304"/>
          </a:xfrm>
          <a:prstGeom prst="ellipse">
            <a:avLst/>
          </a:prstGeom>
          <a:solidFill>
            <a:srgbClr val="F2603D"/>
          </a:solidFill>
          <a:ln cap="flat" cmpd="sng" w="12700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841248" y="2843784"/>
            <a:ext cx="10607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2603D"/>
                </a:solidFill>
                <a:latin typeface="Arial"/>
                <a:ea typeface="Arial"/>
                <a:cs typeface="Arial"/>
                <a:sym typeface="Arial"/>
              </a:rPr>
              <a:t>Protocolo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621792" y="3264408"/>
            <a:ext cx="12252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Cómo se comunican: http o https.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2139696" y="2697480"/>
            <a:ext cx="1517904" cy="1737360"/>
          </a:xfrm>
          <a:prstGeom prst="roundRect">
            <a:avLst>
              <a:gd fmla="val 602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2304288" y="2926080"/>
            <a:ext cx="146304" cy="146304"/>
          </a:xfrm>
          <a:prstGeom prst="ellipse">
            <a:avLst/>
          </a:prstGeom>
          <a:solidFill>
            <a:srgbClr val="7B61FF"/>
          </a:solidFill>
          <a:ln cap="flat" cmpd="sng" w="1270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2523744" y="2843784"/>
            <a:ext cx="10607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7B61FF"/>
                </a:solidFill>
                <a:latin typeface="Arial"/>
                <a:ea typeface="Arial"/>
                <a:cs typeface="Arial"/>
                <a:sym typeface="Arial"/>
              </a:rPr>
              <a:t>Dominio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2304288" y="3264408"/>
            <a:ext cx="12252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Nombre del servidor. El DNS lo traduce a una IP.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3822192" y="2697480"/>
            <a:ext cx="1517904" cy="1737360"/>
          </a:xfrm>
          <a:prstGeom prst="roundRect">
            <a:avLst>
              <a:gd fmla="val 602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3986784" y="2926080"/>
            <a:ext cx="146304" cy="146304"/>
          </a:xfrm>
          <a:prstGeom prst="ellipse">
            <a:avLst/>
          </a:prstGeom>
          <a:solidFill>
            <a:srgbClr val="1FAF7A"/>
          </a:solidFill>
          <a:ln cap="flat" cmpd="sng" w="12700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4206240" y="2843784"/>
            <a:ext cx="10607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7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FAF7A"/>
                </a:solidFill>
                <a:latin typeface="Arial"/>
                <a:ea typeface="Arial"/>
                <a:cs typeface="Arial"/>
                <a:sym typeface="Arial"/>
              </a:rPr>
              <a:t>Puerto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3986784" y="3264408"/>
            <a:ext cx="12252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Entrada al servidor. Por defecto 80 o 443, por eso casi nunca se escribe.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5504688" y="2697480"/>
            <a:ext cx="1517904" cy="1737360"/>
          </a:xfrm>
          <a:prstGeom prst="roundRect">
            <a:avLst>
              <a:gd fmla="val 602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5669280" y="2926080"/>
            <a:ext cx="146304" cy="146304"/>
          </a:xfrm>
          <a:prstGeom prst="ellipse">
            <a:avLst/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5888736" y="2843784"/>
            <a:ext cx="10607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Ruta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5669280" y="3264408"/>
            <a:ext cx="12252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Dónde está el recurso dentro del servidor.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7187184" y="2697480"/>
            <a:ext cx="1517904" cy="1737360"/>
          </a:xfrm>
          <a:prstGeom prst="roundRect">
            <a:avLst>
              <a:gd fmla="val 602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7351776" y="2926080"/>
            <a:ext cx="146304" cy="146304"/>
          </a:xfrm>
          <a:prstGeom prst="ellipse">
            <a:avLst/>
          </a:prstGeom>
          <a:solidFill>
            <a:srgbClr val="E2961A"/>
          </a:solidFill>
          <a:ln cap="flat" cmpd="sng" w="12700">
            <a:solidFill>
              <a:srgbClr val="E296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7571232" y="2843784"/>
            <a:ext cx="10607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961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E2961A"/>
                </a:solidFill>
                <a:latin typeface="Arial"/>
                <a:ea typeface="Arial"/>
                <a:cs typeface="Arial"/>
                <a:sym typeface="Arial"/>
              </a:rPr>
              <a:t>Parámetros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7351776" y="3264408"/>
            <a:ext cx="12252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Datos extra con formato clave=valor después del 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/>
          <p:nvPr/>
        </p:nvSpPr>
        <p:spPr>
          <a:xfrm>
            <a:off x="457200" y="228600"/>
            <a:ext cx="818388" cy="237744"/>
          </a:xfrm>
          <a:prstGeom prst="roundRect">
            <a:avLst>
              <a:gd fmla="val 50000" name="adj"/>
            </a:avLst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457200" y="228600"/>
            <a:ext cx="8183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&lt;http/&gt;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Evolución de HTTP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22"/>
          <p:cNvCxnSpPr/>
          <p:nvPr/>
        </p:nvCxnSpPr>
        <p:spPr>
          <a:xfrm>
            <a:off x="1188720" y="1938528"/>
            <a:ext cx="6766560" cy="0"/>
          </a:xfrm>
          <a:prstGeom prst="straightConnector1">
            <a:avLst/>
          </a:prstGeom>
          <a:noFill/>
          <a:ln cap="flat" cmpd="sng" w="25400">
            <a:solidFill>
              <a:srgbClr val="D5D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2"/>
          <p:cNvSpPr txBox="1"/>
          <p:nvPr/>
        </p:nvSpPr>
        <p:spPr>
          <a:xfrm>
            <a:off x="457200" y="1188720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B7A6"/>
              </a:buClr>
              <a:buSzPts val="2200"/>
              <a:buFont typeface="Arial"/>
              <a:buNone/>
            </a:pPr>
            <a:r>
              <a:rPr b="1" i="0" lang="es" sz="2200" u="none" cap="none" strike="noStrike">
                <a:solidFill>
                  <a:srgbClr val="F7B7A6"/>
                </a:solidFill>
                <a:latin typeface="Arial"/>
                <a:ea typeface="Arial"/>
                <a:cs typeface="Arial"/>
                <a:sym typeface="Arial"/>
              </a:rPr>
              <a:t>1991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1097280" y="1819656"/>
            <a:ext cx="237744" cy="237744"/>
          </a:xfrm>
          <a:prstGeom prst="ellipse">
            <a:avLst/>
          </a:prstGeom>
          <a:solidFill>
            <a:srgbClr val="F7B7A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457200" y="2286000"/>
            <a:ext cx="1517904" cy="2194560"/>
          </a:xfrm>
          <a:prstGeom prst="roundRect">
            <a:avLst>
              <a:gd fmla="val 602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94360" y="2423160"/>
            <a:ext cx="1243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Courier New"/>
              <a:buNone/>
            </a:pPr>
            <a:r>
              <a:rPr b="1" i="0" lang="es" sz="1500" u="none" cap="none" strike="noStrike">
                <a:solidFill>
                  <a:srgbClr val="1E2230"/>
                </a:solidFill>
                <a:latin typeface="Courier New"/>
                <a:ea typeface="Courier New"/>
                <a:cs typeface="Courier New"/>
                <a:sym typeface="Courier New"/>
              </a:rPr>
              <a:t>HTTP/0.9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594360" y="2816352"/>
            <a:ext cx="127101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Solo método GET y solo HTML. No tenía cabeceras.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2139696" y="1188720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A82"/>
              </a:buClr>
              <a:buSzPts val="2200"/>
              <a:buFont typeface="Arial"/>
              <a:buNone/>
            </a:pPr>
            <a:r>
              <a:rPr b="1" i="0" lang="es" sz="2200" u="none" cap="none" strike="noStrike">
                <a:solidFill>
                  <a:srgbClr val="F59A82"/>
                </a:solidFill>
                <a:latin typeface="Arial"/>
                <a:ea typeface="Arial"/>
                <a:cs typeface="Arial"/>
                <a:sym typeface="Arial"/>
              </a:rPr>
              <a:t>1996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2779776" y="1819656"/>
            <a:ext cx="237744" cy="237744"/>
          </a:xfrm>
          <a:prstGeom prst="ellipse">
            <a:avLst/>
          </a:prstGeom>
          <a:solidFill>
            <a:srgbClr val="F59A8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2139696" y="2286000"/>
            <a:ext cx="1517904" cy="2194560"/>
          </a:xfrm>
          <a:prstGeom prst="roundRect">
            <a:avLst>
              <a:gd fmla="val 602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2276856" y="2423160"/>
            <a:ext cx="1243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Courier New"/>
              <a:buNone/>
            </a:pPr>
            <a:r>
              <a:rPr b="1" i="0" lang="es" sz="1500" u="none" cap="none" strike="noStrike">
                <a:solidFill>
                  <a:srgbClr val="1E2230"/>
                </a:solidFill>
                <a:latin typeface="Courier New"/>
                <a:ea typeface="Courier New"/>
                <a:cs typeface="Courier New"/>
                <a:sym typeface="Courier New"/>
              </a:rPr>
              <a:t>HTTP/1.0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2276856" y="2816352"/>
            <a:ext cx="127101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Añade cabeceras, códigos de estado y otros tipos de contenido. Una conexión por petición.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3822192" y="1188720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805F"/>
              </a:buClr>
              <a:buSzPts val="2200"/>
              <a:buFont typeface="Arial"/>
              <a:buNone/>
            </a:pPr>
            <a:r>
              <a:rPr b="1" i="0" lang="es" sz="2200" u="none" cap="none" strike="noStrike">
                <a:solidFill>
                  <a:srgbClr val="F4805F"/>
                </a:solidFill>
                <a:latin typeface="Arial"/>
                <a:ea typeface="Arial"/>
                <a:cs typeface="Arial"/>
                <a:sym typeface="Arial"/>
              </a:rPr>
              <a:t>1997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4462272" y="1819656"/>
            <a:ext cx="237744" cy="237744"/>
          </a:xfrm>
          <a:prstGeom prst="ellipse">
            <a:avLst/>
          </a:prstGeom>
          <a:solidFill>
            <a:srgbClr val="F4805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3822192" y="2286000"/>
            <a:ext cx="1517904" cy="2194560"/>
          </a:xfrm>
          <a:prstGeom prst="roundRect">
            <a:avLst>
              <a:gd fmla="val 602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3959352" y="2423160"/>
            <a:ext cx="1243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Courier New"/>
              <a:buNone/>
            </a:pPr>
            <a:r>
              <a:rPr b="1" i="0" lang="es" sz="1500" u="none" cap="none" strike="noStrike">
                <a:solidFill>
                  <a:srgbClr val="1E2230"/>
                </a:solidFill>
                <a:latin typeface="Courier New"/>
                <a:ea typeface="Courier New"/>
                <a:cs typeface="Courier New"/>
                <a:sym typeface="Courier New"/>
              </a:rPr>
              <a:t>HTTP/1.1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3959352" y="2816352"/>
            <a:ext cx="127101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Conexiones persistentes (keep-alive), cabecera Host obligatoria y más métodos.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5504688" y="1188720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2200"/>
              <a:buFont typeface="Arial"/>
              <a:buNone/>
            </a:pPr>
            <a:r>
              <a:rPr b="1" i="0" lang="es" sz="2200" u="none" cap="none" strike="noStrike">
                <a:solidFill>
                  <a:srgbClr val="F2603D"/>
                </a:solidFill>
                <a:latin typeface="Arial"/>
                <a:ea typeface="Arial"/>
                <a:cs typeface="Arial"/>
                <a:sym typeface="Arial"/>
              </a:rPr>
              <a:t>2015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6144768" y="1819656"/>
            <a:ext cx="237744" cy="237744"/>
          </a:xfrm>
          <a:prstGeom prst="ellipse">
            <a:avLst/>
          </a:prstGeom>
          <a:solidFill>
            <a:srgbClr val="F2603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5504688" y="2286000"/>
            <a:ext cx="1517904" cy="2194560"/>
          </a:xfrm>
          <a:prstGeom prst="roundRect">
            <a:avLst>
              <a:gd fmla="val 602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641848" y="2423160"/>
            <a:ext cx="1243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Courier New"/>
              <a:buNone/>
            </a:pPr>
            <a:r>
              <a:rPr b="1" i="0" lang="es" sz="1500" u="none" cap="none" strike="noStrike">
                <a:solidFill>
                  <a:srgbClr val="1E2230"/>
                </a:solidFill>
                <a:latin typeface="Courier New"/>
                <a:ea typeface="Courier New"/>
                <a:cs typeface="Courier New"/>
                <a:sym typeface="Courier New"/>
              </a:rPr>
              <a:t>HTTP/2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641848" y="2816352"/>
            <a:ext cx="127101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Binario, multiplexación (varias peticiones por una conexión), compresión de cabeceras y server push.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7187184" y="1188720"/>
            <a:ext cx="1517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61F"/>
              </a:buClr>
              <a:buSzPts val="2200"/>
              <a:buFont typeface="Arial"/>
              <a:buNone/>
            </a:pPr>
            <a:r>
              <a:rPr b="1" i="0" lang="es" sz="2200" u="none" cap="none" strike="noStrike">
                <a:solidFill>
                  <a:srgbClr val="D9461F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827264" y="1819656"/>
            <a:ext cx="237744" cy="237744"/>
          </a:xfrm>
          <a:prstGeom prst="ellipse">
            <a:avLst/>
          </a:prstGeom>
          <a:solidFill>
            <a:srgbClr val="D9461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7187184" y="2286000"/>
            <a:ext cx="1517904" cy="2194560"/>
          </a:xfrm>
          <a:prstGeom prst="roundRect">
            <a:avLst>
              <a:gd fmla="val 6024" name="adj"/>
            </a:avLst>
          </a:prstGeom>
          <a:solidFill>
            <a:srgbClr val="161A26"/>
          </a:solidFill>
          <a:ln cap="flat" cmpd="sng" w="9525">
            <a:solidFill>
              <a:srgbClr val="161A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7324344" y="2423160"/>
            <a:ext cx="1243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500"/>
              <a:buFont typeface="Courier New"/>
              <a:buNone/>
            </a:pPr>
            <a:r>
              <a:rPr b="1" i="0" lang="es" sz="1500" u="none" cap="none" strike="noStrike">
                <a:solidFill>
                  <a:srgbClr val="F2603D"/>
                </a:solidFill>
                <a:latin typeface="Courier New"/>
                <a:ea typeface="Courier New"/>
                <a:cs typeface="Courier New"/>
                <a:sym typeface="Courier New"/>
              </a:rPr>
              <a:t>HTTP/3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7324344" y="2816352"/>
            <a:ext cx="127101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EDB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C9CEDB"/>
                </a:solidFill>
                <a:latin typeface="Arial"/>
                <a:ea typeface="Arial"/>
                <a:cs typeface="Arial"/>
                <a:sym typeface="Arial"/>
              </a:rPr>
              <a:t>Usa QUIC sobre UDP en vez de TCP: más rápido y mejor en redes inestables.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/>
          <p:nvPr/>
        </p:nvSpPr>
        <p:spPr>
          <a:xfrm>
            <a:off x="457200" y="228600"/>
            <a:ext cx="818388" cy="237744"/>
          </a:xfrm>
          <a:prstGeom prst="roundRect">
            <a:avLst>
              <a:gd fmla="val 50000" name="adj"/>
            </a:avLst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457200" y="228600"/>
            <a:ext cx="8183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&lt;http/&gt;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Petición y respuesta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F2603D"/>
                </a:solidFill>
                <a:latin typeface="Arial"/>
                <a:ea typeface="Arial"/>
                <a:cs typeface="Arial"/>
                <a:sym typeface="Arial"/>
              </a:rPr>
              <a:t>PETICIÓN · cliente → servidor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457200" y="1463040"/>
            <a:ext cx="4023360" cy="2011680"/>
          </a:xfrm>
          <a:prstGeom prst="roundRect">
            <a:avLst>
              <a:gd fmla="val 4545" name="adj"/>
            </a:avLst>
          </a:prstGeom>
          <a:solidFill>
            <a:srgbClr val="1F2433"/>
          </a:solidFill>
          <a:ln cap="flat" cmpd="sng" w="12700">
            <a:solidFill>
              <a:srgbClr val="1F24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640080" y="1600200"/>
            <a:ext cx="100584" cy="100584"/>
          </a:xfrm>
          <a:prstGeom prst="ellipse">
            <a:avLst/>
          </a:prstGeom>
          <a:solidFill>
            <a:srgbClr val="E5484D"/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804672" y="1600200"/>
            <a:ext cx="100584" cy="100584"/>
          </a:xfrm>
          <a:prstGeom prst="ellipse">
            <a:avLst/>
          </a:prstGeom>
          <a:solidFill>
            <a:srgbClr val="E2961A"/>
          </a:solidFill>
          <a:ln cap="flat" cmpd="sng" w="9525">
            <a:solidFill>
              <a:srgbClr val="E296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969264" y="1600200"/>
            <a:ext cx="100584" cy="100584"/>
          </a:xfrm>
          <a:prstGeom prst="ellipse">
            <a:avLst/>
          </a:prstGeom>
          <a:solidFill>
            <a:srgbClr val="1FA971"/>
          </a:solidFill>
          <a:ln cap="flat" cmpd="sng" w="9525">
            <a:solidFill>
              <a:srgbClr val="1FA9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85800" y="1874520"/>
            <a:ext cx="3657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150"/>
              <a:buFont typeface="Courier New"/>
              <a:buNone/>
            </a:pPr>
            <a:r>
              <a:rPr b="1" i="0" lang="es" sz="1150" u="none" cap="none" strike="noStrike">
                <a:solidFill>
                  <a:srgbClr val="F2603D"/>
                </a:solidFill>
                <a:latin typeface="Courier New"/>
                <a:ea typeface="Courier New"/>
                <a:cs typeface="Courier New"/>
                <a:sym typeface="Courier New"/>
              </a:rPr>
              <a:t>GET /index.html HTTP/1.1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7C873"/>
              </a:buClr>
              <a:buSzPts val="1150"/>
              <a:buFont typeface="Courier New"/>
              <a:buNone/>
            </a:pPr>
            <a:r>
              <a:rPr b="0" i="0" lang="es" sz="1150" u="none" cap="none" strike="noStrike">
                <a:solidFill>
                  <a:srgbClr val="F7C873"/>
                </a:solidFill>
                <a:latin typeface="Courier New"/>
                <a:ea typeface="Courier New"/>
                <a:cs typeface="Courier New"/>
                <a:sym typeface="Courier New"/>
              </a:rPr>
              <a:t>Host: </a:t>
            </a:r>
            <a:r>
              <a:rPr b="0" i="0" lang="es" sz="1150" u="none" cap="none" strike="noStrike">
                <a:solidFill>
                  <a:srgbClr val="E6E8EF"/>
                </a:solidFill>
                <a:latin typeface="Courier New"/>
                <a:ea typeface="Courier New"/>
                <a:cs typeface="Courier New"/>
                <a:sym typeface="Courier New"/>
              </a:rPr>
              <a:t>www.ejemplo.com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7C873"/>
              </a:buClr>
              <a:buSzPts val="1150"/>
              <a:buFont typeface="Courier New"/>
              <a:buNone/>
            </a:pPr>
            <a:r>
              <a:rPr b="0" i="0" lang="es" sz="1150" u="none" cap="none" strike="noStrike">
                <a:solidFill>
                  <a:srgbClr val="F7C873"/>
                </a:solidFill>
                <a:latin typeface="Courier New"/>
                <a:ea typeface="Courier New"/>
                <a:cs typeface="Courier New"/>
                <a:sym typeface="Courier New"/>
              </a:rPr>
              <a:t>User-Agent: </a:t>
            </a:r>
            <a:r>
              <a:rPr b="0" i="0" lang="es" sz="1150" u="none" cap="none" strike="noStrike">
                <a:solidFill>
                  <a:srgbClr val="E6E8EF"/>
                </a:solidFill>
                <a:latin typeface="Courier New"/>
                <a:ea typeface="Courier New"/>
                <a:cs typeface="Courier New"/>
                <a:sym typeface="Courier New"/>
              </a:rPr>
              <a:t>Mozilla/5.0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7C873"/>
              </a:buClr>
              <a:buSzPts val="1150"/>
              <a:buFont typeface="Courier New"/>
              <a:buNone/>
            </a:pPr>
            <a:r>
              <a:rPr b="0" i="0" lang="es" sz="1150" u="none" cap="none" strike="noStrike">
                <a:solidFill>
                  <a:srgbClr val="F7C873"/>
                </a:solidFill>
                <a:latin typeface="Courier New"/>
                <a:ea typeface="Courier New"/>
                <a:cs typeface="Courier New"/>
                <a:sym typeface="Courier New"/>
              </a:rPr>
              <a:t>Accept: </a:t>
            </a:r>
            <a:r>
              <a:rPr b="0" i="0" lang="es" sz="1150" u="none" cap="none" strike="noStrike">
                <a:solidFill>
                  <a:srgbClr val="E6E8EF"/>
                </a:solidFill>
                <a:latin typeface="Courier New"/>
                <a:ea typeface="Courier New"/>
                <a:cs typeface="Courier New"/>
                <a:sym typeface="Courier New"/>
              </a:rPr>
              <a:t>text/html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6"/>
              </a:buClr>
              <a:buSzPts val="1150"/>
              <a:buFont typeface="Courier New"/>
              <a:buNone/>
            </a:pPr>
            <a:r>
              <a:rPr b="0" i="1" lang="es" sz="1150" u="none" cap="none" strike="noStrike">
                <a:solidFill>
                  <a:srgbClr val="6B7286"/>
                </a:solidFill>
                <a:latin typeface="Courier New"/>
                <a:ea typeface="Courier New"/>
                <a:cs typeface="Courier New"/>
                <a:sym typeface="Courier New"/>
              </a:rPr>
              <a:t>(línea en blanco)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6"/>
              </a:buClr>
              <a:buSzPts val="1150"/>
              <a:buFont typeface="Courier New"/>
              <a:buNone/>
            </a:pPr>
            <a:r>
              <a:rPr b="0" i="1" lang="es" sz="1150" u="none" cap="none" strike="noStrike">
                <a:solidFill>
                  <a:srgbClr val="6B7286"/>
                </a:solidFill>
                <a:latin typeface="Courier New"/>
                <a:ea typeface="Courier New"/>
                <a:cs typeface="Courier New"/>
                <a:sym typeface="Courier New"/>
              </a:rPr>
              <a:t>(sin cuerpo: un GET no envía datos)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4663440" y="11430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7A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FAF7A"/>
                </a:solidFill>
                <a:latin typeface="Arial"/>
                <a:ea typeface="Arial"/>
                <a:cs typeface="Arial"/>
                <a:sym typeface="Arial"/>
              </a:rPr>
              <a:t>RESPUESTA · servidor → cliente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4663440" y="1463040"/>
            <a:ext cx="4023360" cy="2011680"/>
          </a:xfrm>
          <a:prstGeom prst="roundRect">
            <a:avLst>
              <a:gd fmla="val 4545" name="adj"/>
            </a:avLst>
          </a:prstGeom>
          <a:solidFill>
            <a:srgbClr val="1F2433"/>
          </a:solidFill>
          <a:ln cap="flat" cmpd="sng" w="12700">
            <a:solidFill>
              <a:srgbClr val="1F24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4846320" y="1600200"/>
            <a:ext cx="100584" cy="100584"/>
          </a:xfrm>
          <a:prstGeom prst="ellipse">
            <a:avLst/>
          </a:prstGeom>
          <a:solidFill>
            <a:srgbClr val="E5484D"/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010912" y="1600200"/>
            <a:ext cx="100584" cy="100584"/>
          </a:xfrm>
          <a:prstGeom prst="ellipse">
            <a:avLst/>
          </a:prstGeom>
          <a:solidFill>
            <a:srgbClr val="E2961A"/>
          </a:solidFill>
          <a:ln cap="flat" cmpd="sng" w="9525">
            <a:solidFill>
              <a:srgbClr val="E296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175504" y="1600200"/>
            <a:ext cx="100584" cy="100584"/>
          </a:xfrm>
          <a:prstGeom prst="ellipse">
            <a:avLst/>
          </a:prstGeom>
          <a:solidFill>
            <a:srgbClr val="1FA971"/>
          </a:solidFill>
          <a:ln cap="flat" cmpd="sng" w="9525">
            <a:solidFill>
              <a:srgbClr val="1FA9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4892040" y="1874520"/>
            <a:ext cx="3657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D49B"/>
              </a:buClr>
              <a:buSzPts val="1150"/>
              <a:buFont typeface="Courier New"/>
              <a:buNone/>
            </a:pPr>
            <a:r>
              <a:rPr b="1" i="0" lang="es" sz="1150" u="none" cap="none" strike="noStrike">
                <a:solidFill>
                  <a:srgbClr val="3FD49B"/>
                </a:solidFill>
                <a:latin typeface="Courier New"/>
                <a:ea typeface="Courier New"/>
                <a:cs typeface="Courier New"/>
                <a:sym typeface="Courier New"/>
              </a:rPr>
              <a:t>HTTP/1.1 200 OK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7C873"/>
              </a:buClr>
              <a:buSzPts val="1150"/>
              <a:buFont typeface="Courier New"/>
              <a:buNone/>
            </a:pPr>
            <a:r>
              <a:rPr b="0" i="0" lang="es" sz="1150" u="none" cap="none" strike="noStrike">
                <a:solidFill>
                  <a:srgbClr val="F7C873"/>
                </a:solidFill>
                <a:latin typeface="Courier New"/>
                <a:ea typeface="Courier New"/>
                <a:cs typeface="Courier New"/>
                <a:sym typeface="Courier New"/>
              </a:rPr>
              <a:t>Content-Type: </a:t>
            </a:r>
            <a:r>
              <a:rPr b="0" i="0" lang="es" sz="1150" u="none" cap="none" strike="noStrike">
                <a:solidFill>
                  <a:srgbClr val="E6E8EF"/>
                </a:solidFill>
                <a:latin typeface="Courier New"/>
                <a:ea typeface="Courier New"/>
                <a:cs typeface="Courier New"/>
                <a:sym typeface="Courier New"/>
              </a:rPr>
              <a:t>text/html; charset=UTF-8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7C873"/>
              </a:buClr>
              <a:buSzPts val="1150"/>
              <a:buFont typeface="Courier New"/>
              <a:buNone/>
            </a:pPr>
            <a:r>
              <a:rPr b="0" i="0" lang="es" sz="1150" u="none" cap="none" strike="noStrike">
                <a:solidFill>
                  <a:srgbClr val="F7C873"/>
                </a:solidFill>
                <a:latin typeface="Courier New"/>
                <a:ea typeface="Courier New"/>
                <a:cs typeface="Courier New"/>
                <a:sym typeface="Courier New"/>
              </a:rPr>
              <a:t>Content-Length: </a:t>
            </a:r>
            <a:r>
              <a:rPr b="0" i="0" lang="es" sz="1150" u="none" cap="none" strike="noStrike">
                <a:solidFill>
                  <a:srgbClr val="E6E8EF"/>
                </a:solidFill>
                <a:latin typeface="Courier New"/>
                <a:ea typeface="Courier New"/>
                <a:cs typeface="Courier New"/>
                <a:sym typeface="Courier New"/>
              </a:rPr>
              <a:t>1250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B7286"/>
              </a:buClr>
              <a:buSzPts val="1150"/>
              <a:buFont typeface="Courier New"/>
              <a:buNone/>
            </a:pPr>
            <a:r>
              <a:rPr b="0" i="1" lang="es" sz="1150" u="none" cap="none" strike="noStrike">
                <a:solidFill>
                  <a:srgbClr val="6B7286"/>
                </a:solidFill>
                <a:latin typeface="Courier New"/>
                <a:ea typeface="Courier New"/>
                <a:cs typeface="Courier New"/>
                <a:sym typeface="Courier New"/>
              </a:rPr>
              <a:t>(línea en blanco)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A9C7FF"/>
              </a:buClr>
              <a:buSzPts val="1150"/>
              <a:buFont typeface="Courier New"/>
              <a:buNone/>
            </a:pPr>
            <a:r>
              <a:rPr b="0" i="0" lang="es" sz="1150" u="none" cap="none" strike="noStrike">
                <a:solidFill>
                  <a:srgbClr val="A9C7FF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html&gt;&lt;html&gt;...&lt;/html&gt;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457200" y="3657600"/>
            <a:ext cx="192024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66928" y="3767328"/>
            <a:ext cx="384048" cy="384048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66928" y="3767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1051560" y="374904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Línea inicial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1051560" y="402336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Método + ruta + versión / versión + código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2560320" y="3657600"/>
            <a:ext cx="192024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2670048" y="3767328"/>
            <a:ext cx="384048" cy="384048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2670048" y="3767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3154680" y="374904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Cabeceras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3154680" y="402336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Pares Nombre: valor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663440" y="3657600"/>
            <a:ext cx="192024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4773168" y="3767328"/>
            <a:ext cx="384048" cy="384048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773168" y="3767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5257800" y="374904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Línea en blanco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5257800" y="402336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Separa cabeceras y cuerpo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766560" y="3657600"/>
            <a:ext cx="192024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6876288" y="3767328"/>
            <a:ext cx="384048" cy="384048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876288" y="37673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7360920" y="374904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Cuerpo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7360920" y="402336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Datos o recurso (opcional)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/>
          <p:nvPr/>
        </p:nvSpPr>
        <p:spPr>
          <a:xfrm>
            <a:off x="457200" y="228600"/>
            <a:ext cx="818388" cy="237744"/>
          </a:xfrm>
          <a:prstGeom prst="roundRect">
            <a:avLst>
              <a:gd fmla="val 50000" name="adj"/>
            </a:avLst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457200" y="228600"/>
            <a:ext cx="8183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&lt;http/&gt;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Métodos HTTP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4572000" y="987552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1B2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CRUD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457200" y="1188720"/>
            <a:ext cx="5212080" cy="41148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566928" y="1261872"/>
            <a:ext cx="1005840" cy="265176"/>
          </a:xfrm>
          <a:prstGeom prst="roundRect">
            <a:avLst>
              <a:gd fmla="val 50000" name="adj"/>
            </a:avLst>
          </a:prstGeom>
          <a:solidFill>
            <a:srgbClr val="1FA971"/>
          </a:solidFill>
          <a:ln cap="flat" cmpd="sng" w="9525">
            <a:solidFill>
              <a:srgbClr val="1FA9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566928" y="1261872"/>
            <a:ext cx="10058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1737360" y="11887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Obtener un recurso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4572000" y="118872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FA971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FA971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457200" y="1673352"/>
            <a:ext cx="5212080" cy="41148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566928" y="1746504"/>
            <a:ext cx="1005840" cy="265176"/>
          </a:xfrm>
          <a:prstGeom prst="roundRect">
            <a:avLst>
              <a:gd fmla="val 50000" name="adj"/>
            </a:avLst>
          </a:prstGeom>
          <a:solidFill>
            <a:srgbClr val="E2961A"/>
          </a:solidFill>
          <a:ln cap="flat" cmpd="sng" w="9525">
            <a:solidFill>
              <a:srgbClr val="E296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566928" y="1746504"/>
            <a:ext cx="10058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1737360" y="167335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Enviar datos o crear un recurso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4572000" y="1673352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961A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E2961A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457200" y="2157984"/>
            <a:ext cx="5212080" cy="41148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566928" y="2231136"/>
            <a:ext cx="1005840" cy="265176"/>
          </a:xfrm>
          <a:prstGeom prst="roundRect">
            <a:avLst>
              <a:gd fmla="val 50000" name="adj"/>
            </a:avLst>
          </a:prstGeom>
          <a:solidFill>
            <a:srgbClr val="2F80ED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566928" y="2231136"/>
            <a:ext cx="10058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1737360" y="2157984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Reemplazar un recurso entero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4572000" y="2157984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457200" y="2642616"/>
            <a:ext cx="5212080" cy="41148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566928" y="2715768"/>
            <a:ext cx="1005840" cy="265176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566928" y="2715768"/>
            <a:ext cx="10058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PATCH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1737360" y="2642616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Modificar parte de un recurso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4572000" y="2642616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457200" y="3127248"/>
            <a:ext cx="5212080" cy="41148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566928" y="3200400"/>
            <a:ext cx="1005840" cy="265176"/>
          </a:xfrm>
          <a:prstGeom prst="roundRect">
            <a:avLst>
              <a:gd fmla="val 50000" name="adj"/>
            </a:avLst>
          </a:prstGeom>
          <a:solidFill>
            <a:srgbClr val="E5484D"/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566928" y="3200400"/>
            <a:ext cx="10058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1737360" y="312724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Eliminar un recurso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4572000" y="3127248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E5484D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457200" y="3611880"/>
            <a:ext cx="5212080" cy="41148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566928" y="3685032"/>
            <a:ext cx="1005840" cy="265176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566928" y="3685032"/>
            <a:ext cx="10058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1737360" y="36118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Como GET, pero solo cabeceras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4572000" y="361188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BBC8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B5BBC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457200" y="4096512"/>
            <a:ext cx="5212080" cy="41148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566928" y="4169664"/>
            <a:ext cx="1005840" cy="265176"/>
          </a:xfrm>
          <a:prstGeom prst="roundRect">
            <a:avLst>
              <a:gd fmla="val 50000" name="adj"/>
            </a:avLst>
          </a:prstGeom>
          <a:solidFill>
            <a:srgbClr val="0E9FB0"/>
          </a:solidFill>
          <a:ln cap="flat" cmpd="sng" w="9525">
            <a:solidFill>
              <a:srgbClr val="0E9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566928" y="4169664"/>
            <a:ext cx="10058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1737360" y="409651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Métodos que permite (CORS)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4572000" y="4096512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BBC8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B5BBC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943600" y="1188720"/>
            <a:ext cx="274320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6126480" y="13258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2603D"/>
                </a:solidFill>
                <a:latin typeface="Arial"/>
                <a:ea typeface="Arial"/>
                <a:cs typeface="Arial"/>
                <a:sym typeface="Arial"/>
              </a:rPr>
              <a:t>Seguros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6126480" y="1664208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No modifican datos en el servidor.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6126480" y="2267712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1FA971"/>
          </a:solidFill>
          <a:ln cap="flat" cmpd="sng" w="9525">
            <a:solidFill>
              <a:srgbClr val="1FA9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6126480" y="226771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6931152" y="2267712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6931152" y="226771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7735824" y="2267712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0E9FB0"/>
          </a:solidFill>
          <a:ln cap="flat" cmpd="sng" w="9525">
            <a:solidFill>
              <a:srgbClr val="0E9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7735824" y="226771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5943600" y="2971800"/>
            <a:ext cx="274320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6126480" y="31089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2603D"/>
                </a:solidFill>
                <a:latin typeface="Arial"/>
                <a:ea typeface="Arial"/>
                <a:cs typeface="Arial"/>
                <a:sym typeface="Arial"/>
              </a:rPr>
              <a:t>Idempotentes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6126480" y="3447288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Repetirlos varias veces da el mismo resultado. POST no lo 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6126480" y="4050792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1FA971"/>
          </a:solidFill>
          <a:ln cap="flat" cmpd="sng" w="9525">
            <a:solidFill>
              <a:srgbClr val="1FA9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6126480" y="405079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6931152" y="4050792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2F80ED"/>
          </a:solidFill>
          <a:ln cap="flat" cmpd="sng" w="9525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6931152" y="405079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PUT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7735824" y="4050792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E5484D"/>
          </a:solidFill>
          <a:ln cap="flat" cmpd="sng" w="952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7735824" y="405079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urier New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4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"/>
          <p:cNvSpPr/>
          <p:nvPr/>
        </p:nvSpPr>
        <p:spPr>
          <a:xfrm>
            <a:off x="457200" y="228600"/>
            <a:ext cx="818388" cy="237744"/>
          </a:xfrm>
          <a:prstGeom prst="roundRect">
            <a:avLst>
              <a:gd fmla="val 50000" name="adj"/>
            </a:avLst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457200" y="228600"/>
            <a:ext cx="8183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&lt;http/&gt;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5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Códigos de estado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Número de 3 cifras que indica cómo ha ido la petición. La primera cifra marca la categoría.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457200" y="1554480"/>
            <a:ext cx="1517904" cy="2971800"/>
          </a:xfrm>
          <a:prstGeom prst="roundRect">
            <a:avLst>
              <a:gd fmla="val 6024" name="adj"/>
            </a:avLst>
          </a:prstGeom>
          <a:solidFill>
            <a:srgbClr val="EDF0F4"/>
          </a:solidFill>
          <a:ln cap="flat" cmpd="sng" w="9525">
            <a:solidFill>
              <a:srgbClr val="EDF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594360" y="1664208"/>
            <a:ext cx="12435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3200"/>
              <a:buFont typeface="Courier New"/>
              <a:buNone/>
            </a:pPr>
            <a:r>
              <a:rPr b="1" i="0" lang="es" sz="32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1xx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594360" y="2212848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Informativo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5"/>
          <p:cNvSpPr txBox="1"/>
          <p:nvPr/>
        </p:nvSpPr>
        <p:spPr>
          <a:xfrm>
            <a:off x="594360" y="2715768"/>
            <a:ext cx="128930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Continue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101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Switching Protocols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2139696" y="1554480"/>
            <a:ext cx="1517904" cy="2971800"/>
          </a:xfrm>
          <a:prstGeom prst="roundRect">
            <a:avLst>
              <a:gd fmla="val 6024" name="adj"/>
            </a:avLst>
          </a:prstGeom>
          <a:solidFill>
            <a:srgbClr val="E2F5EC"/>
          </a:solidFill>
          <a:ln cap="flat" cmpd="sng" w="9525">
            <a:solidFill>
              <a:srgbClr val="E2F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2276856" y="1664208"/>
            <a:ext cx="12435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971"/>
              </a:buClr>
              <a:buSzPts val="3200"/>
              <a:buFont typeface="Courier New"/>
              <a:buNone/>
            </a:pPr>
            <a:r>
              <a:rPr b="1" i="0" lang="es" sz="3200" u="none" cap="none" strike="noStrike">
                <a:solidFill>
                  <a:srgbClr val="1FA971"/>
                </a:solidFill>
                <a:latin typeface="Courier New"/>
                <a:ea typeface="Courier New"/>
                <a:cs typeface="Courier New"/>
                <a:sym typeface="Courier New"/>
              </a:rPr>
              <a:t>2xx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2276856" y="2212848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Éxito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5"/>
          <p:cNvSpPr txBox="1"/>
          <p:nvPr/>
        </p:nvSpPr>
        <p:spPr>
          <a:xfrm>
            <a:off x="2276856" y="2715768"/>
            <a:ext cx="128930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971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1FA971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A971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1FA971"/>
                </a:solidFill>
                <a:latin typeface="Courier New"/>
                <a:ea typeface="Courier New"/>
                <a:cs typeface="Courier New"/>
                <a:sym typeface="Courier New"/>
              </a:rPr>
              <a:t>201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Created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A971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1FA971"/>
                </a:solidFill>
                <a:latin typeface="Courier New"/>
                <a:ea typeface="Courier New"/>
                <a:cs typeface="Courier New"/>
                <a:sym typeface="Courier New"/>
              </a:rPr>
              <a:t>204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No Content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3822192" y="1554480"/>
            <a:ext cx="1517904" cy="2971800"/>
          </a:xfrm>
          <a:prstGeom prst="roundRect">
            <a:avLst>
              <a:gd fmla="val 6024" name="adj"/>
            </a:avLst>
          </a:prstGeom>
          <a:solidFill>
            <a:srgbClr val="E6F0FD"/>
          </a:solidFill>
          <a:ln cap="flat" cmpd="sng" w="9525">
            <a:solidFill>
              <a:srgbClr val="E6F0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3959352" y="1664208"/>
            <a:ext cx="12435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3200"/>
              <a:buFont typeface="Courier New"/>
              <a:buNone/>
            </a:pPr>
            <a:r>
              <a:rPr b="1" i="0" lang="es" sz="3200" u="none" cap="none" strike="noStrike">
                <a:solidFill>
                  <a:srgbClr val="2F80ED"/>
                </a:solidFill>
                <a:latin typeface="Courier New"/>
                <a:ea typeface="Courier New"/>
                <a:cs typeface="Courier New"/>
                <a:sym typeface="Courier New"/>
              </a:rPr>
              <a:t>3xx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3959352" y="2212848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Redirección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3959352" y="2715768"/>
            <a:ext cx="128930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0ED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2F80ED"/>
                </a:solidFill>
                <a:latin typeface="Courier New"/>
                <a:ea typeface="Courier New"/>
                <a:cs typeface="Courier New"/>
                <a:sym typeface="Courier New"/>
              </a:rPr>
              <a:t>301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Moved Permanently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F80ED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2F80ED"/>
                </a:solidFill>
                <a:latin typeface="Courier New"/>
                <a:ea typeface="Courier New"/>
                <a:cs typeface="Courier New"/>
                <a:sym typeface="Courier New"/>
              </a:rPr>
              <a:t>302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Found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F80ED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2F80ED"/>
                </a:solidFill>
                <a:latin typeface="Courier New"/>
                <a:ea typeface="Courier New"/>
                <a:cs typeface="Courier New"/>
                <a:sym typeface="Courier New"/>
              </a:rPr>
              <a:t>304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Not Modified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5504688" y="1554480"/>
            <a:ext cx="1517904" cy="2971800"/>
          </a:xfrm>
          <a:prstGeom prst="roundRect">
            <a:avLst>
              <a:gd fmla="val 6024" name="adj"/>
            </a:avLst>
          </a:prstGeom>
          <a:solidFill>
            <a:srgbClr val="FCF1DE"/>
          </a:solidFill>
          <a:ln cap="flat" cmpd="sng" w="9525">
            <a:solidFill>
              <a:srgbClr val="FCF1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5641848" y="1664208"/>
            <a:ext cx="12435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961A"/>
              </a:buClr>
              <a:buSzPts val="3200"/>
              <a:buFont typeface="Courier New"/>
              <a:buNone/>
            </a:pPr>
            <a:r>
              <a:rPr b="1" i="0" lang="es" sz="3200" u="none" cap="none" strike="noStrike">
                <a:solidFill>
                  <a:srgbClr val="E2961A"/>
                </a:solidFill>
                <a:latin typeface="Courier New"/>
                <a:ea typeface="Courier New"/>
                <a:cs typeface="Courier New"/>
                <a:sym typeface="Courier New"/>
              </a:rPr>
              <a:t>4xx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5641848" y="2212848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Error del cliente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5641848" y="2715768"/>
            <a:ext cx="128930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961A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E2961A"/>
                </a:solidFill>
                <a:latin typeface="Courier New"/>
                <a:ea typeface="Courier New"/>
                <a:cs typeface="Courier New"/>
                <a:sym typeface="Courier New"/>
              </a:rPr>
              <a:t>400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Bad Request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2961A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E2961A"/>
                </a:solidFill>
                <a:latin typeface="Courier New"/>
                <a:ea typeface="Courier New"/>
                <a:cs typeface="Courier New"/>
                <a:sym typeface="Courier New"/>
              </a:rPr>
              <a:t>401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Unauthorized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2961A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E2961A"/>
                </a:solidFill>
                <a:latin typeface="Courier New"/>
                <a:ea typeface="Courier New"/>
                <a:cs typeface="Courier New"/>
                <a:sym typeface="Courier New"/>
              </a:rPr>
              <a:t>403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Forbidden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2961A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E2961A"/>
                </a:solidFill>
                <a:latin typeface="Courier New"/>
                <a:ea typeface="Courier New"/>
                <a:cs typeface="Courier New"/>
                <a:sym typeface="Courier New"/>
              </a:rPr>
              <a:t>404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Not Found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7187184" y="1554480"/>
            <a:ext cx="1517904" cy="2971800"/>
          </a:xfrm>
          <a:prstGeom prst="roundRect">
            <a:avLst>
              <a:gd fmla="val 6024" name="adj"/>
            </a:avLst>
          </a:prstGeom>
          <a:solidFill>
            <a:srgbClr val="FCE7E8"/>
          </a:solidFill>
          <a:ln cap="flat" cmpd="sng" w="9525">
            <a:solidFill>
              <a:srgbClr val="FCE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7324344" y="1664208"/>
            <a:ext cx="12435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3200"/>
              <a:buFont typeface="Courier New"/>
              <a:buNone/>
            </a:pPr>
            <a:r>
              <a:rPr b="1" i="0" lang="es" sz="32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5xx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7324344" y="2212848"/>
            <a:ext cx="12435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Error del servidor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5"/>
          <p:cNvSpPr txBox="1"/>
          <p:nvPr/>
        </p:nvSpPr>
        <p:spPr>
          <a:xfrm>
            <a:off x="7324344" y="2715768"/>
            <a:ext cx="128930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Internal Server Error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502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Bad Gateway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Courier New"/>
              <a:buNone/>
            </a:pPr>
            <a:r>
              <a:rPr b="1" i="0" lang="es" sz="13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503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Service Unavailable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5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/>
          <p:nvPr/>
        </p:nvSpPr>
        <p:spPr>
          <a:xfrm>
            <a:off x="457200" y="228600"/>
            <a:ext cx="818388" cy="237744"/>
          </a:xfrm>
          <a:prstGeom prst="roundRect">
            <a:avLst>
              <a:gd fmla="val 50000" name="adj"/>
            </a:avLst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457200" y="228600"/>
            <a:ext cx="8183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&lt;http/&gt;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6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HTTPS: HTTP seguro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457200" y="1188720"/>
            <a:ext cx="3749040" cy="3291840"/>
          </a:xfrm>
          <a:prstGeom prst="roundRect">
            <a:avLst>
              <a:gd fmla="val 2778" name="adj"/>
            </a:avLst>
          </a:prstGeom>
          <a:solidFill>
            <a:srgbClr val="161A26"/>
          </a:solidFill>
          <a:ln cap="flat" cmpd="sng" w="9525">
            <a:solidFill>
              <a:srgbClr val="161A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6"/>
          <p:cNvSpPr txBox="1"/>
          <p:nvPr/>
        </p:nvSpPr>
        <p:spPr>
          <a:xfrm>
            <a:off x="731520" y="23774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urier New"/>
              <a:buNone/>
            </a:pPr>
            <a:r>
              <a:rPr b="1" i="0" lang="es" sz="3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HTTP + TLS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6"/>
          <p:cNvSpPr txBox="1"/>
          <p:nvPr/>
        </p:nvSpPr>
        <p:spPr>
          <a:xfrm>
            <a:off x="731520" y="2971800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EDB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C9CEDB"/>
                </a:solidFill>
                <a:latin typeface="Arial"/>
                <a:ea typeface="Arial"/>
                <a:cs typeface="Arial"/>
                <a:sym typeface="Arial"/>
              </a:rPr>
              <a:t>Cifra la comunicación entre el cliente y el servidor. Hoy es obligatorio en la práctica.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731520" y="37033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3A6"/>
              </a:buClr>
              <a:buSzPts val="1200"/>
              <a:buFont typeface="Courier New"/>
              <a:buNone/>
            </a:pPr>
            <a:r>
              <a:rPr b="1" i="0" lang="es" sz="1200" u="none" cap="none" strike="noStrike">
                <a:solidFill>
                  <a:srgbClr val="8C93A6"/>
                </a:solidFill>
                <a:latin typeface="Courier New"/>
                <a:ea typeface="Courier New"/>
                <a:cs typeface="Courier New"/>
                <a:sym typeface="Courier New"/>
              </a:rPr>
              <a:t>http://   </a:t>
            </a:r>
            <a:r>
              <a:rPr b="0" i="0" lang="es" sz="1200" u="none" cap="none" strike="noStrike">
                <a:solidFill>
                  <a:srgbClr val="8C93A6"/>
                </a:solidFill>
                <a:latin typeface="Arial"/>
                <a:ea typeface="Arial"/>
                <a:cs typeface="Arial"/>
                <a:sym typeface="Arial"/>
              </a:rPr>
              <a:t>puerto 80 · "No seguro"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2603D"/>
              </a:buClr>
              <a:buSzPts val="1200"/>
              <a:buFont typeface="Courier New"/>
              <a:buNone/>
            </a:pPr>
            <a:r>
              <a:rPr b="1" i="0" lang="es" sz="1200" u="none" cap="none" strike="noStrike">
                <a:solidFill>
                  <a:srgbClr val="F2603D"/>
                </a:solidFill>
                <a:latin typeface="Courier New"/>
                <a:ea typeface="Courier New"/>
                <a:cs typeface="Courier New"/>
                <a:sym typeface="Courier New"/>
              </a:rPr>
              <a:t>https://  </a:t>
            </a:r>
            <a:r>
              <a:rPr b="0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puerto 443 · cifrado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4480560" y="1188720"/>
            <a:ext cx="4206240" cy="1024128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4663440" y="1417320"/>
            <a:ext cx="548640" cy="548640"/>
          </a:xfrm>
          <a:prstGeom prst="ellipse">
            <a:avLst/>
          </a:prstGeom>
          <a:solidFill>
            <a:srgbClr val="FDEBE5"/>
          </a:solidFill>
          <a:ln cap="flat" cmpd="sng" w="9525">
            <a:solidFill>
              <a:srgbClr val="FDE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6"/>
          <p:cNvSpPr txBox="1"/>
          <p:nvPr/>
        </p:nvSpPr>
        <p:spPr>
          <a:xfrm>
            <a:off x="5394960" y="1298448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Confidencialidad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5394960" y="160020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Nadie puede leer los datos por el camino.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4480560" y="2304288"/>
            <a:ext cx="4206240" cy="1024128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4663440" y="2532888"/>
            <a:ext cx="548640" cy="548640"/>
          </a:xfrm>
          <a:prstGeom prst="ellipse">
            <a:avLst/>
          </a:prstGeom>
          <a:solidFill>
            <a:srgbClr val="FDEBE5"/>
          </a:solidFill>
          <a:ln cap="flat" cmpd="sng" w="9525">
            <a:solidFill>
              <a:srgbClr val="FDE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6"/>
          <p:cNvSpPr txBox="1"/>
          <p:nvPr/>
        </p:nvSpPr>
        <p:spPr>
          <a:xfrm>
            <a:off x="5394960" y="2414016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Integridad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6"/>
          <p:cNvSpPr txBox="1"/>
          <p:nvPr/>
        </p:nvSpPr>
        <p:spPr>
          <a:xfrm>
            <a:off x="5394960" y="2715768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Los datos no se pueden modificar sin que se detecte.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4480560" y="3419856"/>
            <a:ext cx="4206240" cy="1024128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4663440" y="3648456"/>
            <a:ext cx="548640" cy="548640"/>
          </a:xfrm>
          <a:prstGeom prst="ellipse">
            <a:avLst/>
          </a:prstGeom>
          <a:solidFill>
            <a:srgbClr val="FDEBE5"/>
          </a:solidFill>
          <a:ln cap="flat" cmpd="sng" w="9525">
            <a:solidFill>
              <a:srgbClr val="FDE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0" name="Google Shape;38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600" y="37856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6"/>
          <p:cNvSpPr txBox="1"/>
          <p:nvPr/>
        </p:nvSpPr>
        <p:spPr>
          <a:xfrm>
            <a:off x="5394960" y="3529584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6"/>
          <p:cNvSpPr txBox="1"/>
          <p:nvPr/>
        </p:nvSpPr>
        <p:spPr>
          <a:xfrm>
            <a:off x="5394960" y="3831336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El servidor demuestra quién es con un certificado digital de una autoridad certificadora (p. ej., Let's Encrypt).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6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"/>
          <p:cNvSpPr/>
          <p:nvPr/>
        </p:nvSpPr>
        <p:spPr>
          <a:xfrm>
            <a:off x="457200" y="228600"/>
            <a:ext cx="818388" cy="237744"/>
          </a:xfrm>
          <a:prstGeom prst="roundRect">
            <a:avLst>
              <a:gd fmla="val 50000" name="adj"/>
            </a:avLst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457200" y="228600"/>
            <a:ext cx="8183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&lt;http/&gt;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7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¿Qué pasa al escribir una URL?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457200" y="1143000"/>
            <a:ext cx="192024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7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640080" y="1325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>
            <a:off x="640080" y="18013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Escribes la URL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7"/>
          <p:cNvSpPr txBox="1"/>
          <p:nvPr/>
        </p:nvSpPr>
        <p:spPr>
          <a:xfrm>
            <a:off x="640080" y="2093976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https://www.ejemplo.com en el navegador.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2560320" y="1143000"/>
            <a:ext cx="192024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7"/>
          <p:cNvSpPr/>
          <p:nvPr/>
        </p:nvSpPr>
        <p:spPr>
          <a:xfrm>
            <a:off x="2743200" y="1325880"/>
            <a:ext cx="411480" cy="411480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2743200" y="1325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7"/>
          <p:cNvSpPr txBox="1"/>
          <p:nvPr/>
        </p:nvSpPr>
        <p:spPr>
          <a:xfrm>
            <a:off x="2743200" y="18013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DNS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2743200" y="2093976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Traduce el dominio a una dirección IP.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4663440" y="1143000"/>
            <a:ext cx="192024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7"/>
          <p:cNvSpPr/>
          <p:nvPr/>
        </p:nvSpPr>
        <p:spPr>
          <a:xfrm>
            <a:off x="4846320" y="1325880"/>
            <a:ext cx="411480" cy="411480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4846320" y="1325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7"/>
          <p:cNvSpPr txBox="1"/>
          <p:nvPr/>
        </p:nvSpPr>
        <p:spPr>
          <a:xfrm>
            <a:off x="4846320" y="18013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7"/>
          <p:cNvSpPr txBox="1"/>
          <p:nvPr/>
        </p:nvSpPr>
        <p:spPr>
          <a:xfrm>
            <a:off x="4846320" y="2093976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Conexión TCP y handshake TLS (por ser HTTPS).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6766560" y="1143000"/>
            <a:ext cx="192024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6949440" y="1325880"/>
            <a:ext cx="411480" cy="411480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6949440" y="1325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6949440" y="18013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Petición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6949440" y="2093976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El navegador envía GET / HTTP/1.1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457200" y="2880360"/>
            <a:ext cx="192024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7"/>
          <p:cNvSpPr txBox="1"/>
          <p:nvPr/>
        </p:nvSpPr>
        <p:spPr>
          <a:xfrm>
            <a:off x="640080" y="353872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Respuesta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7"/>
          <p:cNvSpPr txBox="1"/>
          <p:nvPr/>
        </p:nvSpPr>
        <p:spPr>
          <a:xfrm>
            <a:off x="640080" y="3831336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El servidor responde 200 OK con el HTML.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2560320" y="2880360"/>
            <a:ext cx="192024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2743200" y="3063240"/>
            <a:ext cx="411480" cy="411480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2743200" y="3063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7"/>
          <p:cNvSpPr txBox="1"/>
          <p:nvPr/>
        </p:nvSpPr>
        <p:spPr>
          <a:xfrm>
            <a:off x="2743200" y="353872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Más peticiones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7"/>
          <p:cNvSpPr txBox="1"/>
          <p:nvPr/>
        </p:nvSpPr>
        <p:spPr>
          <a:xfrm>
            <a:off x="2743200" y="3831336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El navegador pide el CSS, el JS y las imágenes.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4663440" y="2880360"/>
            <a:ext cx="1920240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F2603D"/>
          </a:solidFill>
          <a:ln cap="flat" cmpd="sng" w="9525">
            <a:solidFill>
              <a:srgbClr val="F26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7"/>
          <p:cNvSpPr txBox="1"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7"/>
          <p:cNvSpPr txBox="1"/>
          <p:nvPr/>
        </p:nvSpPr>
        <p:spPr>
          <a:xfrm>
            <a:off x="4846320" y="353872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Renderizado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7"/>
          <p:cNvSpPr txBox="1"/>
          <p:nvPr/>
        </p:nvSpPr>
        <p:spPr>
          <a:xfrm>
            <a:off x="4846320" y="3831336"/>
            <a:ext cx="16459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La página se muestra en pantalla.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6766560" y="2880360"/>
            <a:ext cx="1920240" cy="1600200"/>
          </a:xfrm>
          <a:prstGeom prst="roundRect">
            <a:avLst>
              <a:gd fmla="val 5714" name="adj"/>
            </a:avLst>
          </a:prstGeom>
          <a:solidFill>
            <a:srgbClr val="161A26"/>
          </a:solidFill>
          <a:ln cap="flat" cmpd="sng" w="9525">
            <a:solidFill>
              <a:srgbClr val="161A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8" name="Google Shape;4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30632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7"/>
          <p:cNvSpPr txBox="1"/>
          <p:nvPr/>
        </p:nvSpPr>
        <p:spPr>
          <a:xfrm>
            <a:off x="6949440" y="3502152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F2603D"/>
                </a:solidFill>
                <a:latin typeface="Arial"/>
                <a:ea typeface="Arial"/>
                <a:cs typeface="Arial"/>
                <a:sym typeface="Arial"/>
              </a:rPr>
              <a:t>HTTP </a:t>
            </a: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conecta las capas de la arquitectura web. </a:t>
            </a:r>
            <a:r>
              <a:rPr b="1" i="0" lang="es" sz="1100" u="none" cap="none" strike="noStrike">
                <a:solidFill>
                  <a:srgbClr val="3FD49B"/>
                </a:solidFill>
                <a:latin typeface="Arial"/>
                <a:ea typeface="Arial"/>
                <a:cs typeface="Arial"/>
                <a:sym typeface="Arial"/>
              </a:rPr>
              <a:t>SSH </a:t>
            </a: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sirve para administrar esos servidores.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7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 txBox="1"/>
          <p:nvPr/>
        </p:nvSpPr>
        <p:spPr>
          <a:xfrm>
            <a:off x="731520" y="7772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8000"/>
              <a:buFont typeface="Arial"/>
              <a:buNone/>
            </a:pPr>
            <a:r>
              <a:rPr b="1" i="0" lang="es" sz="8000" u="none" cap="none" strike="noStrike">
                <a:solidFill>
                  <a:srgbClr val="7B61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8"/>
          <p:cNvSpPr txBox="1"/>
          <p:nvPr/>
        </p:nvSpPr>
        <p:spPr>
          <a:xfrm>
            <a:off x="731520" y="1828800"/>
            <a:ext cx="5394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Modelos de arquitecturas web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8"/>
          <p:cNvSpPr txBox="1"/>
          <p:nvPr/>
        </p:nvSpPr>
        <p:spPr>
          <a:xfrm>
            <a:off x="731520" y="333756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DCC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B7BDCC"/>
                </a:solidFill>
                <a:latin typeface="Arial"/>
                <a:ea typeface="Arial"/>
                <a:cs typeface="Arial"/>
                <a:sym typeface="Arial"/>
              </a:rPr>
              <a:t>Cómo se reparten el trabajo los equipos que forman una aplicación web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8"/>
          <p:cNvSpPr/>
          <p:nvPr/>
        </p:nvSpPr>
        <p:spPr>
          <a:xfrm>
            <a:off x="6309360" y="1325880"/>
            <a:ext cx="2377440" cy="2377440"/>
          </a:xfrm>
          <a:prstGeom prst="ellipse">
            <a:avLst/>
          </a:prstGeom>
          <a:solidFill>
            <a:srgbClr val="7B61FF">
              <a:alpha val="14902"/>
            </a:srgbClr>
          </a:solidFill>
          <a:ln cap="flat" cmpd="sng" w="19050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0" name="Google Shape;44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196596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"/>
          <p:cNvSpPr/>
          <p:nvPr/>
        </p:nvSpPr>
        <p:spPr>
          <a:xfrm>
            <a:off x="457200" y="228600"/>
            <a:ext cx="1517904" cy="237744"/>
          </a:xfrm>
          <a:prstGeom prst="roundRect">
            <a:avLst>
              <a:gd fmla="val 50000" name="adj"/>
            </a:avLst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9"/>
          <p:cNvSpPr txBox="1"/>
          <p:nvPr/>
        </p:nvSpPr>
        <p:spPr>
          <a:xfrm>
            <a:off x="457200" y="228600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&lt;arquitecturas/&gt;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Modelo P2P (Peer to Peer)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300"/>
              <a:buFont typeface="Arial"/>
              <a:buNone/>
            </a:pPr>
            <a:r>
              <a:rPr lang="es" sz="1200"/>
              <a:t>Es una red descentralizada y distribuida en la que no existe un servidor central. Cada nodo (</a:t>
            </a:r>
            <a:r>
              <a:rPr i="1" lang="es" sz="1200"/>
              <a:t>peer</a:t>
            </a:r>
            <a:r>
              <a:rPr lang="es" sz="1200"/>
              <a:t>) actúa a la vez como cliente, al solicitar recursos, y como proveedor, al ofrecer los suyos propios: capacidad de procesamiento, almacenamiento y ancho de banda. Un ejemplo habitual es el intercambio de archivos mediante descargas compartidas o el streaming de audio y vídeo.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9"/>
          <p:cNvSpPr/>
          <p:nvPr/>
        </p:nvSpPr>
        <p:spPr>
          <a:xfrm>
            <a:off x="457200" y="1965960"/>
            <a:ext cx="2377440" cy="251460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1" name="Google Shape;451;p29"/>
          <p:cNvCxnSpPr/>
          <p:nvPr/>
        </p:nvCxnSpPr>
        <p:spPr>
          <a:xfrm>
            <a:off x="1645920" y="2350008"/>
            <a:ext cx="826164" cy="600243"/>
          </a:xfrm>
          <a:prstGeom prst="straightConnector1">
            <a:avLst/>
          </a:prstGeom>
          <a:noFill/>
          <a:ln cap="flat" cmpd="sng" w="15875">
            <a:solidFill>
              <a:srgbClr val="C9B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29"/>
          <p:cNvCxnSpPr/>
          <p:nvPr/>
        </p:nvCxnSpPr>
        <p:spPr>
          <a:xfrm>
            <a:off x="1645920" y="2350008"/>
            <a:ext cx="510597" cy="1571457"/>
          </a:xfrm>
          <a:prstGeom prst="straightConnector1">
            <a:avLst/>
          </a:prstGeom>
          <a:noFill/>
          <a:ln cap="flat" cmpd="sng" w="15875">
            <a:solidFill>
              <a:srgbClr val="C9B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29"/>
          <p:cNvCxnSpPr/>
          <p:nvPr/>
        </p:nvCxnSpPr>
        <p:spPr>
          <a:xfrm flipH="1">
            <a:off x="1135323" y="2350008"/>
            <a:ext cx="510597" cy="1571457"/>
          </a:xfrm>
          <a:prstGeom prst="straightConnector1">
            <a:avLst/>
          </a:prstGeom>
          <a:noFill/>
          <a:ln cap="flat" cmpd="sng" w="15875">
            <a:solidFill>
              <a:srgbClr val="C9B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29"/>
          <p:cNvCxnSpPr/>
          <p:nvPr/>
        </p:nvCxnSpPr>
        <p:spPr>
          <a:xfrm flipH="1">
            <a:off x="819756" y="2350008"/>
            <a:ext cx="826164" cy="600243"/>
          </a:xfrm>
          <a:prstGeom prst="straightConnector1">
            <a:avLst/>
          </a:prstGeom>
          <a:noFill/>
          <a:ln cap="flat" cmpd="sng" w="15875">
            <a:solidFill>
              <a:srgbClr val="C9B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29"/>
          <p:cNvCxnSpPr/>
          <p:nvPr/>
        </p:nvCxnSpPr>
        <p:spPr>
          <a:xfrm flipH="1">
            <a:off x="2156517" y="2950251"/>
            <a:ext cx="315566" cy="971214"/>
          </a:xfrm>
          <a:prstGeom prst="straightConnector1">
            <a:avLst/>
          </a:prstGeom>
          <a:noFill/>
          <a:ln cap="flat" cmpd="sng" w="15875">
            <a:solidFill>
              <a:srgbClr val="C9B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29"/>
          <p:cNvCxnSpPr/>
          <p:nvPr/>
        </p:nvCxnSpPr>
        <p:spPr>
          <a:xfrm flipH="1">
            <a:off x="1135323" y="2950251"/>
            <a:ext cx="1336761" cy="971214"/>
          </a:xfrm>
          <a:prstGeom prst="straightConnector1">
            <a:avLst/>
          </a:prstGeom>
          <a:noFill/>
          <a:ln cap="flat" cmpd="sng" w="15875">
            <a:solidFill>
              <a:srgbClr val="C9B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29"/>
          <p:cNvCxnSpPr/>
          <p:nvPr/>
        </p:nvCxnSpPr>
        <p:spPr>
          <a:xfrm rot="10800000">
            <a:off x="819756" y="2950251"/>
            <a:ext cx="1652328" cy="0"/>
          </a:xfrm>
          <a:prstGeom prst="straightConnector1">
            <a:avLst/>
          </a:prstGeom>
          <a:noFill/>
          <a:ln cap="flat" cmpd="sng" w="15875">
            <a:solidFill>
              <a:srgbClr val="C9B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29"/>
          <p:cNvCxnSpPr/>
          <p:nvPr/>
        </p:nvCxnSpPr>
        <p:spPr>
          <a:xfrm>
            <a:off x="1135323" y="3921465"/>
            <a:ext cx="1021195" cy="914"/>
          </a:xfrm>
          <a:prstGeom prst="straightConnector1">
            <a:avLst/>
          </a:prstGeom>
          <a:noFill/>
          <a:ln cap="flat" cmpd="sng" w="15875">
            <a:solidFill>
              <a:srgbClr val="C9B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29"/>
          <p:cNvCxnSpPr/>
          <p:nvPr/>
        </p:nvCxnSpPr>
        <p:spPr>
          <a:xfrm>
            <a:off x="819756" y="2950251"/>
            <a:ext cx="1336761" cy="971214"/>
          </a:xfrm>
          <a:prstGeom prst="straightConnector1">
            <a:avLst/>
          </a:prstGeom>
          <a:noFill/>
          <a:ln cap="flat" cmpd="sng" w="15875">
            <a:solidFill>
              <a:srgbClr val="C9B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29"/>
          <p:cNvCxnSpPr/>
          <p:nvPr/>
        </p:nvCxnSpPr>
        <p:spPr>
          <a:xfrm>
            <a:off x="819756" y="2950251"/>
            <a:ext cx="315566" cy="971214"/>
          </a:xfrm>
          <a:prstGeom prst="straightConnector1">
            <a:avLst/>
          </a:prstGeom>
          <a:noFill/>
          <a:ln cap="flat" cmpd="sng" w="15875">
            <a:solidFill>
              <a:srgbClr val="C9B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29"/>
          <p:cNvSpPr/>
          <p:nvPr/>
        </p:nvSpPr>
        <p:spPr>
          <a:xfrm>
            <a:off x="1444752" y="2148840"/>
            <a:ext cx="402336" cy="402336"/>
          </a:xfrm>
          <a:prstGeom prst="ellipse">
            <a:avLst/>
          </a:prstGeom>
          <a:solidFill>
            <a:srgbClr val="7B61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2" name="Google Shape;4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5336" y="22494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9"/>
          <p:cNvSpPr/>
          <p:nvPr/>
        </p:nvSpPr>
        <p:spPr>
          <a:xfrm>
            <a:off x="2270916" y="2749083"/>
            <a:ext cx="402336" cy="402336"/>
          </a:xfrm>
          <a:prstGeom prst="ellipse">
            <a:avLst/>
          </a:prstGeom>
          <a:solidFill>
            <a:srgbClr val="7B61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1500" y="2849667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9"/>
          <p:cNvSpPr/>
          <p:nvPr/>
        </p:nvSpPr>
        <p:spPr>
          <a:xfrm>
            <a:off x="1955349" y="3720297"/>
            <a:ext cx="402336" cy="402336"/>
          </a:xfrm>
          <a:prstGeom prst="ellipse">
            <a:avLst/>
          </a:prstGeom>
          <a:solidFill>
            <a:srgbClr val="7B61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6" name="Google Shape;4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5933" y="3820881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9"/>
          <p:cNvSpPr/>
          <p:nvPr/>
        </p:nvSpPr>
        <p:spPr>
          <a:xfrm>
            <a:off x="934155" y="3720297"/>
            <a:ext cx="402336" cy="402336"/>
          </a:xfrm>
          <a:prstGeom prst="ellipse">
            <a:avLst/>
          </a:prstGeom>
          <a:solidFill>
            <a:srgbClr val="7B61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8" name="Google Shape;4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739" y="3820881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9"/>
          <p:cNvSpPr/>
          <p:nvPr/>
        </p:nvSpPr>
        <p:spPr>
          <a:xfrm>
            <a:off x="618588" y="2749083"/>
            <a:ext cx="402336" cy="402336"/>
          </a:xfrm>
          <a:prstGeom prst="ellipse">
            <a:avLst/>
          </a:prstGeom>
          <a:solidFill>
            <a:srgbClr val="7B61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172" y="2849667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9"/>
          <p:cNvSpPr/>
          <p:nvPr/>
        </p:nvSpPr>
        <p:spPr>
          <a:xfrm>
            <a:off x="3017520" y="1965960"/>
            <a:ext cx="3017520" cy="251460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9"/>
          <p:cNvSpPr txBox="1"/>
          <p:nvPr/>
        </p:nvSpPr>
        <p:spPr>
          <a:xfrm>
            <a:off x="3200400" y="21031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971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FA971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9"/>
          <p:cNvSpPr txBox="1"/>
          <p:nvPr/>
        </p:nvSpPr>
        <p:spPr>
          <a:xfrm>
            <a:off x="3200400" y="2487168"/>
            <a:ext cx="2697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Escalabilidad: </a:t>
            </a: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cuantos más nodos, mejor funciona la red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Robustez: </a:t>
            </a: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no depende de un único servidor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Descentralización: </a:t>
            </a: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ningún nodo es imprescindible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Costes repartidos: </a:t>
            </a: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la carga no recae en un solo nodo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6217920" y="1965960"/>
            <a:ext cx="2468880" cy="251460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9"/>
          <p:cNvSpPr txBox="1"/>
          <p:nvPr/>
        </p:nvSpPr>
        <p:spPr>
          <a:xfrm>
            <a:off x="6400800" y="21031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E5484D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9"/>
          <p:cNvSpPr txBox="1"/>
          <p:nvPr/>
        </p:nvSpPr>
        <p:spPr>
          <a:xfrm>
            <a:off x="6400800" y="2487168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Falta de fiabilidad: </a:t>
            </a: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no se garantiza que el recurso sea el deseado ni que no esté modificado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Difícil mantenimiento: </a:t>
            </a: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actualizar un recurso obliga a hacerlo en todos los nodos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9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0"/>
          <p:cNvSpPr/>
          <p:nvPr/>
        </p:nvSpPr>
        <p:spPr>
          <a:xfrm>
            <a:off x="457200" y="228600"/>
            <a:ext cx="1517904" cy="237744"/>
          </a:xfrm>
          <a:prstGeom prst="roundRect">
            <a:avLst>
              <a:gd fmla="val 50000" name="adj"/>
            </a:avLst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0"/>
          <p:cNvSpPr txBox="1"/>
          <p:nvPr/>
        </p:nvSpPr>
        <p:spPr>
          <a:xfrm>
            <a:off x="457200" y="228600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&lt;arquitecturas/&gt;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0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Modelo cliente-servidor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0"/>
          <p:cNvSpPr txBox="1"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Reparte el trabajo entre servidores, que ofrecen un recurso o servicio, y clientes, que lo solicitan. Suelen comunicarse por red, aunque pueden estar en la misma máquina. El servidor web envía el recurso tal cual (HTML, imagen, sonido…), sin tratarlo.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0"/>
          <p:cNvSpPr/>
          <p:nvPr/>
        </p:nvSpPr>
        <p:spPr>
          <a:xfrm>
            <a:off x="457200" y="1828800"/>
            <a:ext cx="151790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0"/>
          <p:cNvSpPr/>
          <p:nvPr/>
        </p:nvSpPr>
        <p:spPr>
          <a:xfrm>
            <a:off x="594360" y="1947672"/>
            <a:ext cx="347472" cy="347472"/>
          </a:xfrm>
          <a:prstGeom prst="ellipse">
            <a:avLst/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0"/>
          <p:cNvSpPr txBox="1"/>
          <p:nvPr/>
        </p:nvSpPr>
        <p:spPr>
          <a:xfrm>
            <a:off x="594360" y="19476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0"/>
          <p:cNvSpPr txBox="1"/>
          <p:nvPr/>
        </p:nvSpPr>
        <p:spPr>
          <a:xfrm>
            <a:off x="594360" y="2359152"/>
            <a:ext cx="12710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El usuario pide una página con su URL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0"/>
          <p:cNvSpPr txBox="1"/>
          <p:nvPr/>
        </p:nvSpPr>
        <p:spPr>
          <a:xfrm>
            <a:off x="1975104" y="1828800"/>
            <a:ext cx="16459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B5A8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0"/>
          <p:cNvSpPr/>
          <p:nvPr/>
        </p:nvSpPr>
        <p:spPr>
          <a:xfrm>
            <a:off x="2139696" y="1828800"/>
            <a:ext cx="151790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0"/>
          <p:cNvSpPr/>
          <p:nvPr/>
        </p:nvSpPr>
        <p:spPr>
          <a:xfrm>
            <a:off x="2276856" y="1947672"/>
            <a:ext cx="347472" cy="347472"/>
          </a:xfrm>
          <a:prstGeom prst="ellipse">
            <a:avLst/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0"/>
          <p:cNvSpPr txBox="1"/>
          <p:nvPr/>
        </p:nvSpPr>
        <p:spPr>
          <a:xfrm>
            <a:off x="2276856" y="19476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0"/>
          <p:cNvSpPr txBox="1"/>
          <p:nvPr/>
        </p:nvSpPr>
        <p:spPr>
          <a:xfrm>
            <a:off x="2276856" y="2359152"/>
            <a:ext cx="12710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El servidor recibe la petición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0"/>
          <p:cNvSpPr txBox="1"/>
          <p:nvPr/>
        </p:nvSpPr>
        <p:spPr>
          <a:xfrm>
            <a:off x="3657600" y="1828800"/>
            <a:ext cx="16459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B5A8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0"/>
          <p:cNvSpPr/>
          <p:nvPr/>
        </p:nvSpPr>
        <p:spPr>
          <a:xfrm>
            <a:off x="3822192" y="1828800"/>
            <a:ext cx="151790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0"/>
          <p:cNvSpPr/>
          <p:nvPr/>
        </p:nvSpPr>
        <p:spPr>
          <a:xfrm>
            <a:off x="3959352" y="1947672"/>
            <a:ext cx="347472" cy="347472"/>
          </a:xfrm>
          <a:prstGeom prst="ellipse">
            <a:avLst/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0"/>
          <p:cNvSpPr txBox="1"/>
          <p:nvPr/>
        </p:nvSpPr>
        <p:spPr>
          <a:xfrm>
            <a:off x="3959352" y="19476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0"/>
          <p:cNvSpPr txBox="1"/>
          <p:nvPr/>
        </p:nvSpPr>
        <p:spPr>
          <a:xfrm>
            <a:off x="3959352" y="2359152"/>
            <a:ext cx="12710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Busca la página en su almacenamiento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0"/>
          <p:cNvSpPr txBox="1"/>
          <p:nvPr/>
        </p:nvSpPr>
        <p:spPr>
          <a:xfrm>
            <a:off x="5340096" y="1828800"/>
            <a:ext cx="16459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B5A8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0"/>
          <p:cNvSpPr/>
          <p:nvPr/>
        </p:nvSpPr>
        <p:spPr>
          <a:xfrm>
            <a:off x="5504688" y="1828800"/>
            <a:ext cx="151790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0"/>
          <p:cNvSpPr/>
          <p:nvPr/>
        </p:nvSpPr>
        <p:spPr>
          <a:xfrm>
            <a:off x="5641848" y="1947672"/>
            <a:ext cx="347472" cy="347472"/>
          </a:xfrm>
          <a:prstGeom prst="ellipse">
            <a:avLst/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"/>
          <p:cNvSpPr txBox="1"/>
          <p:nvPr/>
        </p:nvSpPr>
        <p:spPr>
          <a:xfrm>
            <a:off x="5641848" y="19476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0"/>
          <p:cNvSpPr txBox="1"/>
          <p:nvPr/>
        </p:nvSpPr>
        <p:spPr>
          <a:xfrm>
            <a:off x="5641848" y="2359152"/>
            <a:ext cx="12710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Envía el código fuente por el mismo medio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0"/>
          <p:cNvSpPr txBox="1"/>
          <p:nvPr/>
        </p:nvSpPr>
        <p:spPr>
          <a:xfrm>
            <a:off x="7022592" y="1828800"/>
            <a:ext cx="16459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A8FF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rgbClr val="B5A8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0"/>
          <p:cNvSpPr/>
          <p:nvPr/>
        </p:nvSpPr>
        <p:spPr>
          <a:xfrm>
            <a:off x="7187184" y="1828800"/>
            <a:ext cx="1517904" cy="118872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0"/>
          <p:cNvSpPr/>
          <p:nvPr/>
        </p:nvSpPr>
        <p:spPr>
          <a:xfrm>
            <a:off x="7324344" y="1947672"/>
            <a:ext cx="347472" cy="347472"/>
          </a:xfrm>
          <a:prstGeom prst="ellipse">
            <a:avLst/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0"/>
          <p:cNvSpPr txBox="1"/>
          <p:nvPr/>
        </p:nvSpPr>
        <p:spPr>
          <a:xfrm>
            <a:off x="7324344" y="19476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7324344" y="2359152"/>
            <a:ext cx="127101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El navegador lo interpreta y lo muestra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457200" y="3200400"/>
            <a:ext cx="402336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0"/>
          <p:cNvSpPr txBox="1"/>
          <p:nvPr/>
        </p:nvSpPr>
        <p:spPr>
          <a:xfrm>
            <a:off x="640080" y="32918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971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FA971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0"/>
          <p:cNvSpPr txBox="1"/>
          <p:nvPr/>
        </p:nvSpPr>
        <p:spPr>
          <a:xfrm>
            <a:off x="640080" y="3611880"/>
            <a:ext cx="3703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Char char="•"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Control centralizado de accesos, recursos y datos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30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Char char="•"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Clientes y servidores escalan por separado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30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Char char="•"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Se puede cambiar un servidor sin afectar a los clientes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4663440" y="3200400"/>
            <a:ext cx="4023360" cy="128016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0"/>
          <p:cNvSpPr txBox="1"/>
          <p:nvPr/>
        </p:nvSpPr>
        <p:spPr>
          <a:xfrm>
            <a:off x="4846320" y="32918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E5484D"/>
                </a:solidFill>
                <a:latin typeface="Arial"/>
                <a:ea typeface="Arial"/>
                <a:cs typeface="Arial"/>
                <a:sym typeface="Arial"/>
              </a:rPr>
              <a:t>Desventajas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0"/>
          <p:cNvSpPr txBox="1"/>
          <p:nvPr/>
        </p:nvSpPr>
        <p:spPr>
          <a:xfrm>
            <a:off x="4846320" y="3611880"/>
            <a:ext cx="3703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Char char="•"/>
            </a:pPr>
            <a:r>
              <a:rPr lang="es" sz="1200">
                <a:solidFill>
                  <a:srgbClr val="666666"/>
                </a:solidFill>
              </a:rPr>
              <a:t>Saturación</a:t>
            </a:r>
            <a:r>
              <a:rPr lang="es" sz="1200">
                <a:solidFill>
                  <a:srgbClr val="666666"/>
                </a:solidFill>
              </a:rPr>
              <a:t> del sistema cuando </a:t>
            </a:r>
            <a:r>
              <a:rPr lang="es" sz="1200">
                <a:solidFill>
                  <a:srgbClr val="666666"/>
                </a:solidFill>
              </a:rPr>
              <a:t>muchos</a:t>
            </a:r>
            <a:r>
              <a:rPr lang="es" sz="1200">
                <a:solidFill>
                  <a:srgbClr val="666666"/>
                </a:solidFill>
              </a:rPr>
              <a:t> usuarios hacen peticiones al mismo tiempo</a:t>
            </a:r>
            <a:endParaRPr b="0" i="0" sz="12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30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Char char="•"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Si el servidor cae, no se atienden peticiones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30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Char char="•"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Exige hardware y software específicos (más coste)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0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1"/>
          <p:cNvSpPr/>
          <p:nvPr/>
        </p:nvSpPr>
        <p:spPr>
          <a:xfrm>
            <a:off x="457200" y="228600"/>
            <a:ext cx="1517904" cy="237744"/>
          </a:xfrm>
          <a:prstGeom prst="roundRect">
            <a:avLst>
              <a:gd fmla="val 50000" name="adj"/>
            </a:avLst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1"/>
          <p:cNvSpPr txBox="1"/>
          <p:nvPr/>
        </p:nvSpPr>
        <p:spPr>
          <a:xfrm>
            <a:off x="457200" y="228600"/>
            <a:ext cx="15179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&lt;arquitecturas/&gt;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1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Modelos con servidor de aplicaciones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Un servidor web solo envía los archivos tal cual (recursos estáticos). Un servidor de aplicaciones ejecuta el código del recurso y devuelve el resultado a través del servidor web. Suele conectarse a una base de datos, en la misma máquina o en otro host de la red.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1"/>
          <p:cNvSpPr/>
          <p:nvPr/>
        </p:nvSpPr>
        <p:spPr>
          <a:xfrm>
            <a:off x="457200" y="1920240"/>
            <a:ext cx="2624328" cy="256032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1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9" name="Google Shape;52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22174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1"/>
          <p:cNvSpPr txBox="1"/>
          <p:nvPr/>
        </p:nvSpPr>
        <p:spPr>
          <a:xfrm>
            <a:off x="1207008" y="2057400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En la misma máquina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1"/>
          <p:cNvSpPr txBox="1"/>
          <p:nvPr/>
        </p:nvSpPr>
        <p:spPr>
          <a:xfrm>
            <a:off x="640055" y="2891580"/>
            <a:ext cx="23043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50"/>
              <a:buFont typeface="Arial"/>
              <a:buNone/>
            </a:pPr>
            <a:r>
              <a:rPr b="0" i="0" lang="es" sz="115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El servidor web recibe la petición. Si el recurso es dinámico, se lo pasa al servidor de aplicaciones, que lo ejecuta y devuelve el resultado para enviarlo al cliente.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1"/>
          <p:cNvSpPr/>
          <p:nvPr/>
        </p:nvSpPr>
        <p:spPr>
          <a:xfrm>
            <a:off x="3264408" y="1920240"/>
            <a:ext cx="2624328" cy="256032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1"/>
          <p:cNvSpPr/>
          <p:nvPr/>
        </p:nvSpPr>
        <p:spPr>
          <a:xfrm>
            <a:off x="3447288" y="2103120"/>
            <a:ext cx="457200" cy="457200"/>
          </a:xfrm>
          <a:prstGeom prst="ellipse">
            <a:avLst/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4" name="Google Shape;53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1588" y="22174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1"/>
          <p:cNvSpPr txBox="1"/>
          <p:nvPr/>
        </p:nvSpPr>
        <p:spPr>
          <a:xfrm>
            <a:off x="4014216" y="2057400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Servidor de aplicaciones externo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1"/>
          <p:cNvSpPr txBox="1"/>
          <p:nvPr/>
        </p:nvSpPr>
        <p:spPr>
          <a:xfrm>
            <a:off x="3424425" y="2891643"/>
            <a:ext cx="23043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50"/>
              <a:buFont typeface="Arial"/>
              <a:buNone/>
            </a:pPr>
            <a:r>
              <a:rPr b="0" i="0" lang="es" sz="115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El servidor web trabaja menos y necesita menos recursos. Un redirector manda a la aplicación solo lo que hay que ejecutar; lo estático no pasa.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1"/>
          <p:cNvSpPr/>
          <p:nvPr/>
        </p:nvSpPr>
        <p:spPr>
          <a:xfrm>
            <a:off x="6071616" y="1920240"/>
            <a:ext cx="2624328" cy="256032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1"/>
          <p:cNvSpPr/>
          <p:nvPr/>
        </p:nvSpPr>
        <p:spPr>
          <a:xfrm>
            <a:off x="6254496" y="2103120"/>
            <a:ext cx="457200" cy="457200"/>
          </a:xfrm>
          <a:prstGeom prst="ellipse">
            <a:avLst/>
          </a:prstGeom>
          <a:solidFill>
            <a:srgbClr val="7B61FF"/>
          </a:solidFill>
          <a:ln cap="flat" cmpd="sng" w="9525">
            <a:solidFill>
              <a:srgbClr val="7B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9" name="Google Shape;53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8796" y="22174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1"/>
          <p:cNvSpPr txBox="1"/>
          <p:nvPr/>
        </p:nvSpPr>
        <p:spPr>
          <a:xfrm>
            <a:off x="6821424" y="2057400"/>
            <a:ext cx="1755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Varios servidores de aplicaciones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1"/>
          <p:cNvSpPr txBox="1"/>
          <p:nvPr/>
        </p:nvSpPr>
        <p:spPr>
          <a:xfrm>
            <a:off x="6254496" y="2891643"/>
            <a:ext cx="23043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150"/>
              <a:buFont typeface="Arial"/>
              <a:buNone/>
            </a:pPr>
            <a:r>
              <a:rPr b="0" i="0" lang="es" sz="115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Si la carga es alta, varios servidores comparten un servidor web. El redirector hace de balanceador y decide cuál ejecuta cada petición. Todos deben ser iguales.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1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2"/>
          <p:cNvSpPr txBox="1"/>
          <p:nvPr/>
        </p:nvSpPr>
        <p:spPr>
          <a:xfrm>
            <a:off x="731520" y="7772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7A"/>
              </a:buClr>
              <a:buSzPts val="8000"/>
              <a:buFont typeface="Arial"/>
              <a:buNone/>
            </a:pPr>
            <a:r>
              <a:rPr b="1" i="0" lang="es" sz="8000" u="none" cap="none" strike="noStrike">
                <a:solidFill>
                  <a:srgbClr val="1FAF7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2"/>
          <p:cNvSpPr txBox="1"/>
          <p:nvPr/>
        </p:nvSpPr>
        <p:spPr>
          <a:xfrm>
            <a:off x="731520" y="1828800"/>
            <a:ext cx="5394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Protocolo SSH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2"/>
          <p:cNvSpPr txBox="1"/>
          <p:nvPr/>
        </p:nvSpPr>
        <p:spPr>
          <a:xfrm>
            <a:off x="731520" y="333756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DCC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B7BDCC"/>
                </a:solidFill>
                <a:latin typeface="Arial"/>
                <a:ea typeface="Arial"/>
                <a:cs typeface="Arial"/>
                <a:sym typeface="Arial"/>
              </a:rPr>
              <a:t>Secure Shell: controlar un servidor a distancia de forma segura y cifrada </a:t>
            </a:r>
            <a:r>
              <a:rPr lang="es" sz="1600">
                <a:solidFill>
                  <a:srgbClr val="B7BDCC"/>
                </a:solidFill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2"/>
          <p:cNvSpPr/>
          <p:nvPr/>
        </p:nvSpPr>
        <p:spPr>
          <a:xfrm>
            <a:off x="6309360" y="1325880"/>
            <a:ext cx="2377440" cy="2377440"/>
          </a:xfrm>
          <a:prstGeom prst="ellipse">
            <a:avLst/>
          </a:prstGeom>
          <a:solidFill>
            <a:srgbClr val="1FAF7A">
              <a:alpha val="14902"/>
            </a:srgbClr>
          </a:solidFill>
          <a:ln cap="flat" cmpd="sng" w="19050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2" name="Google Shape;5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196596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3"/>
          <p:cNvSpPr/>
          <p:nvPr/>
        </p:nvSpPr>
        <p:spPr>
          <a:xfrm>
            <a:off x="457200" y="228600"/>
            <a:ext cx="740664" cy="237744"/>
          </a:xfrm>
          <a:prstGeom prst="roundRect">
            <a:avLst>
              <a:gd fmla="val 50000" name="adj"/>
            </a:avLst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3"/>
          <p:cNvSpPr txBox="1"/>
          <p:nvPr/>
        </p:nvSpPr>
        <p:spPr>
          <a:xfrm>
            <a:off x="457200" y="228600"/>
            <a:ext cx="740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&lt;ssh/&gt;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3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¿Qué es SSH?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3"/>
          <p:cNvSpPr txBox="1"/>
          <p:nvPr/>
        </p:nvSpPr>
        <p:spPr>
          <a:xfrm>
            <a:off x="457200" y="118872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AF7A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FAF7A"/>
                </a:solidFill>
                <a:latin typeface="Arial"/>
                <a:ea typeface="Arial"/>
                <a:cs typeface="Arial"/>
                <a:sym typeface="Arial"/>
              </a:rPr>
              <a:t>SSH </a:t>
            </a:r>
            <a:r>
              <a:rPr b="0" i="0" lang="es" sz="15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es un protocolo de red y un programa informático que permite a dos ordenadores comunicarse de forma segura y cifrada a través de una red.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3"/>
          <p:cNvSpPr txBox="1"/>
          <p:nvPr/>
        </p:nvSpPr>
        <p:spPr>
          <a:xfrm>
            <a:off x="457200" y="22860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Se usa sobre todo para conectarse a servidores remotos desde la línea de comandos: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3"/>
          <p:cNvSpPr/>
          <p:nvPr/>
        </p:nvSpPr>
        <p:spPr>
          <a:xfrm>
            <a:off x="457200" y="2880360"/>
            <a:ext cx="1554480" cy="16002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3"/>
          <p:cNvSpPr/>
          <p:nvPr/>
        </p:nvSpPr>
        <p:spPr>
          <a:xfrm>
            <a:off x="960120" y="3063240"/>
            <a:ext cx="548640" cy="548640"/>
          </a:xfrm>
          <a:prstGeom prst="ellipse">
            <a:avLst/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5" name="Google Shape;5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3200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3"/>
          <p:cNvSpPr txBox="1"/>
          <p:nvPr/>
        </p:nvSpPr>
        <p:spPr>
          <a:xfrm>
            <a:off x="548640" y="37490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Administrar sistemas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3"/>
          <p:cNvSpPr/>
          <p:nvPr/>
        </p:nvSpPr>
        <p:spPr>
          <a:xfrm>
            <a:off x="2148840" y="2880360"/>
            <a:ext cx="1554480" cy="16002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3"/>
          <p:cNvSpPr/>
          <p:nvPr/>
        </p:nvSpPr>
        <p:spPr>
          <a:xfrm>
            <a:off x="2651760" y="3063240"/>
            <a:ext cx="548640" cy="548640"/>
          </a:xfrm>
          <a:prstGeom prst="ellipse">
            <a:avLst/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9" name="Google Shape;56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920" y="3200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3"/>
          <p:cNvSpPr txBox="1"/>
          <p:nvPr/>
        </p:nvSpPr>
        <p:spPr>
          <a:xfrm>
            <a:off x="2240280" y="37490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Ejecutar comandos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3"/>
          <p:cNvSpPr/>
          <p:nvPr/>
        </p:nvSpPr>
        <p:spPr>
          <a:xfrm>
            <a:off x="3840480" y="2880360"/>
            <a:ext cx="1554480" cy="16002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3"/>
          <p:cNvSpPr/>
          <p:nvPr/>
        </p:nvSpPr>
        <p:spPr>
          <a:xfrm>
            <a:off x="4343400" y="3063240"/>
            <a:ext cx="548640" cy="548640"/>
          </a:xfrm>
          <a:prstGeom prst="ellipse">
            <a:avLst/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3" name="Google Shape;57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0560" y="3200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3"/>
          <p:cNvSpPr txBox="1"/>
          <p:nvPr/>
        </p:nvSpPr>
        <p:spPr>
          <a:xfrm>
            <a:off x="3931920" y="37490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Transferir archivos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3"/>
          <p:cNvSpPr/>
          <p:nvPr/>
        </p:nvSpPr>
        <p:spPr>
          <a:xfrm>
            <a:off x="5669280" y="1188720"/>
            <a:ext cx="3017520" cy="1920240"/>
          </a:xfrm>
          <a:prstGeom prst="roundRect">
            <a:avLst>
              <a:gd fmla="val 4762" name="adj"/>
            </a:avLst>
          </a:prstGeom>
          <a:solidFill>
            <a:srgbClr val="161A26"/>
          </a:solidFill>
          <a:ln cap="flat" cmpd="sng" w="9525">
            <a:solidFill>
              <a:srgbClr val="161A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3"/>
          <p:cNvSpPr txBox="1"/>
          <p:nvPr/>
        </p:nvSpPr>
        <p:spPr>
          <a:xfrm>
            <a:off x="5852160" y="128016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D49B"/>
              </a:buClr>
              <a:buSzPts val="6600"/>
              <a:buFont typeface="Courier New"/>
              <a:buNone/>
            </a:pPr>
            <a:r>
              <a:rPr b="1" i="0" lang="es" sz="6600" u="none" cap="none" strike="noStrike">
                <a:solidFill>
                  <a:srgbClr val="3FD49B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3"/>
          <p:cNvSpPr txBox="1"/>
          <p:nvPr/>
        </p:nvSpPr>
        <p:spPr>
          <a:xfrm>
            <a:off x="5852160" y="23774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EDB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C9CEDB"/>
                </a:solidFill>
                <a:latin typeface="Arial"/>
                <a:ea typeface="Arial"/>
                <a:cs typeface="Arial"/>
                <a:sym typeface="Arial"/>
              </a:rPr>
              <a:t>Puerto por defecto de SSH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3"/>
          <p:cNvSpPr/>
          <p:nvPr/>
        </p:nvSpPr>
        <p:spPr>
          <a:xfrm>
            <a:off x="5669280" y="3291840"/>
            <a:ext cx="3017520" cy="1188720"/>
          </a:xfrm>
          <a:prstGeom prst="roundRect">
            <a:avLst>
              <a:gd fmla="val 7692" name="adj"/>
            </a:avLst>
          </a:prstGeom>
          <a:solidFill>
            <a:srgbClr val="E2F6EE"/>
          </a:solidFill>
          <a:ln cap="flat" cmpd="sng" w="9525">
            <a:solidFill>
              <a:srgbClr val="E2F6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3"/>
          <p:cNvSpPr txBox="1"/>
          <p:nvPr/>
        </p:nvSpPr>
        <p:spPr>
          <a:xfrm>
            <a:off x="5852160" y="3429000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7A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FAF7A"/>
                </a:solidFill>
                <a:latin typeface="Arial"/>
                <a:ea typeface="Arial"/>
                <a:cs typeface="Arial"/>
                <a:sym typeface="Arial"/>
              </a:rPr>
              <a:t>Un concepto básico: </a:t>
            </a:r>
            <a:r>
              <a:rPr b="0" i="0" lang="es" sz="13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es parecido a AnyDesk, pero desde la terminal y sin interfaz gráfica.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3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4"/>
          <p:cNvSpPr/>
          <p:nvPr/>
        </p:nvSpPr>
        <p:spPr>
          <a:xfrm>
            <a:off x="457200" y="228600"/>
            <a:ext cx="740700" cy="237600"/>
          </a:xfrm>
          <a:prstGeom prst="roundRect">
            <a:avLst>
              <a:gd fmla="val 50000" name="adj"/>
            </a:avLst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4"/>
          <p:cNvSpPr txBox="1"/>
          <p:nvPr/>
        </p:nvSpPr>
        <p:spPr>
          <a:xfrm>
            <a:off x="457200" y="228600"/>
            <a:ext cx="74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&lt;ssh/&gt;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4"/>
          <p:cNvSpPr txBox="1"/>
          <p:nvPr/>
        </p:nvSpPr>
        <p:spPr>
          <a:xfrm>
            <a:off x="457200" y="512064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Arquitectura cliente-servidor: el </a:t>
            </a:r>
            <a:r>
              <a:rPr b="1" lang="es" sz="2800">
                <a:solidFill>
                  <a:srgbClr val="1E2230"/>
                </a:solidFill>
              </a:rPr>
              <a:t>servidor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4"/>
          <p:cNvSpPr/>
          <p:nvPr/>
        </p:nvSpPr>
        <p:spPr>
          <a:xfrm>
            <a:off x="457200" y="1234440"/>
            <a:ext cx="1371600" cy="292500"/>
          </a:xfrm>
          <a:prstGeom prst="roundRect">
            <a:avLst>
              <a:gd fmla="val 50000" name="adj"/>
            </a:avLst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4"/>
          <p:cNvSpPr txBox="1"/>
          <p:nvPr/>
        </p:nvSpPr>
        <p:spPr>
          <a:xfrm>
            <a:off x="457200" y="1234440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lang="e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SERVIDOR</a:t>
            </a:r>
            <a:r>
              <a:rPr b="1" i="0" lang="e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SSH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4"/>
          <p:cNvSpPr txBox="1"/>
          <p:nvPr/>
        </p:nvSpPr>
        <p:spPr>
          <a:xfrm>
            <a:off x="457200" y="1691640"/>
            <a:ext cx="484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Programa que se</a:t>
            </a:r>
            <a:r>
              <a:rPr lang="es" sz="1500">
                <a:solidFill>
                  <a:srgbClr val="1E2230"/>
                </a:solidFill>
              </a:rPr>
              <a:t> instala en el servidor para poder controlar a distancia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4"/>
          <p:cNvSpPr/>
          <p:nvPr/>
        </p:nvSpPr>
        <p:spPr>
          <a:xfrm>
            <a:off x="457200" y="2560325"/>
            <a:ext cx="484620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4"/>
          <p:cNvSpPr/>
          <p:nvPr/>
        </p:nvSpPr>
        <p:spPr>
          <a:xfrm>
            <a:off x="640080" y="2743200"/>
            <a:ext cx="548700" cy="548700"/>
          </a:xfrm>
          <a:prstGeom prst="ellipse">
            <a:avLst/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4" name="Google Shape;59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880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4"/>
          <p:cNvSpPr txBox="1"/>
          <p:nvPr/>
        </p:nvSpPr>
        <p:spPr>
          <a:xfrm>
            <a:off x="1371600" y="265176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Desde la terminal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4"/>
          <p:cNvSpPr/>
          <p:nvPr/>
        </p:nvSpPr>
        <p:spPr>
          <a:xfrm>
            <a:off x="1371600" y="2990088"/>
            <a:ext cx="3749100" cy="329100"/>
          </a:xfrm>
          <a:prstGeom prst="roundRect">
            <a:avLst>
              <a:gd fmla="val 16667" name="adj"/>
            </a:avLst>
          </a:prstGeom>
          <a:solidFill>
            <a:srgbClr val="1F2433"/>
          </a:solidFill>
          <a:ln cap="flat" cmpd="sng" w="12700">
            <a:solidFill>
              <a:srgbClr val="1F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4"/>
          <p:cNvSpPr txBox="1"/>
          <p:nvPr/>
        </p:nvSpPr>
        <p:spPr>
          <a:xfrm>
            <a:off x="1508760" y="2990088"/>
            <a:ext cx="356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D49B"/>
              </a:buClr>
              <a:buSzPts val="1200"/>
              <a:buFont typeface="Courier New"/>
              <a:buNone/>
            </a:pPr>
            <a:r>
              <a:rPr b="1" i="0" lang="es" sz="1200" u="none" cap="none" strike="noStrike">
                <a:solidFill>
                  <a:srgbClr val="3FD49B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1" lang="es" sz="1200">
                <a:solidFill>
                  <a:srgbClr val="3FD49B"/>
                </a:solidFill>
                <a:latin typeface="Courier New"/>
                <a:ea typeface="Courier New"/>
                <a:cs typeface="Courier New"/>
                <a:sym typeface="Courier New"/>
              </a:rPr>
              <a:t> sudo apt install openssh-server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4"/>
          <p:cNvSpPr/>
          <p:nvPr/>
        </p:nvSpPr>
        <p:spPr>
          <a:xfrm>
            <a:off x="457200" y="3611880"/>
            <a:ext cx="4846200" cy="86880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4"/>
          <p:cNvSpPr/>
          <p:nvPr/>
        </p:nvSpPr>
        <p:spPr>
          <a:xfrm>
            <a:off x="640080" y="3767328"/>
            <a:ext cx="548700" cy="548700"/>
          </a:xfrm>
          <a:prstGeom prst="ellipse">
            <a:avLst/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0" name="Google Shape;60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904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4"/>
          <p:cNvSpPr txBox="1"/>
          <p:nvPr/>
        </p:nvSpPr>
        <p:spPr>
          <a:xfrm>
            <a:off x="5595750" y="417879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"/>
          <p:cNvSpPr txBox="1"/>
          <p:nvPr/>
        </p:nvSpPr>
        <p:spPr>
          <a:xfrm>
            <a:off x="1371600" y="3767327"/>
            <a:ext cx="37491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lang="es" sz="1200">
                <a:solidFill>
                  <a:srgbClr val="5D6475"/>
                </a:solidFill>
              </a:rPr>
              <a:t>Este paso solo se hace una vez; una vez hecho esto, el servidor está listo para recibir conexiones</a:t>
            </a: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"/>
          <p:cNvSpPr txBox="1"/>
          <p:nvPr/>
        </p:nvSpPr>
        <p:spPr>
          <a:xfrm>
            <a:off x="5595750" y="1771653"/>
            <a:ext cx="3063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"/>
          <p:cNvSpPr txBox="1"/>
          <p:nvPr>
            <p:ph idx="4294967295" type="sldNum"/>
          </p:nvPr>
        </p:nvSpPr>
        <p:spPr>
          <a:xfrm>
            <a:off x="8321040" y="4773168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4"/>
          <p:cNvSpPr txBox="1"/>
          <p:nvPr/>
        </p:nvSpPr>
        <p:spPr>
          <a:xfrm>
            <a:off x="5425050" y="1691650"/>
            <a:ext cx="340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Arial"/>
              <a:buNone/>
            </a:pPr>
            <a:r>
              <a:rPr lang="es" sz="1500">
                <a:solidFill>
                  <a:srgbClr val="1E2230"/>
                </a:solidFill>
              </a:rPr>
              <a:t>EJEMPLO: OPENSSH, </a:t>
            </a:r>
            <a:endParaRPr sz="1500">
              <a:solidFill>
                <a:srgbClr val="1E223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1E223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Arial"/>
              <a:buNone/>
            </a:pPr>
            <a:r>
              <a:rPr lang="es" sz="1500">
                <a:solidFill>
                  <a:srgbClr val="1E2230"/>
                </a:solidFill>
              </a:rPr>
              <a:t>es el paquete de software que incluye las herramientas</a:t>
            </a:r>
            <a:endParaRPr sz="1500">
              <a:solidFill>
                <a:srgbClr val="1E223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Arial"/>
              <a:buNone/>
            </a:pPr>
            <a:r>
              <a:rPr lang="es" sz="1500">
                <a:solidFill>
                  <a:srgbClr val="1E2230"/>
                </a:solidFill>
              </a:rPr>
              <a:t>para conectarse como servicio para recibir conexiones</a:t>
            </a:r>
            <a:endParaRPr sz="1500">
              <a:solidFill>
                <a:srgbClr val="1E223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"/>
          <p:cNvSpPr/>
          <p:nvPr/>
        </p:nvSpPr>
        <p:spPr>
          <a:xfrm>
            <a:off x="457200" y="228600"/>
            <a:ext cx="740664" cy="237744"/>
          </a:xfrm>
          <a:prstGeom prst="roundRect">
            <a:avLst>
              <a:gd fmla="val 50000" name="adj"/>
            </a:avLst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5"/>
          <p:cNvSpPr txBox="1"/>
          <p:nvPr/>
        </p:nvSpPr>
        <p:spPr>
          <a:xfrm>
            <a:off x="457200" y="228600"/>
            <a:ext cx="740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&lt;ssh/&gt;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Arquitectura cliente-servidor: el cliente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"/>
          <p:cNvSpPr/>
          <p:nvPr/>
        </p:nvSpPr>
        <p:spPr>
          <a:xfrm>
            <a:off x="457200" y="1234440"/>
            <a:ext cx="1371600" cy="292608"/>
          </a:xfrm>
          <a:prstGeom prst="roundRect">
            <a:avLst>
              <a:gd fmla="val 50000" name="adj"/>
            </a:avLst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5"/>
          <p:cNvSpPr txBox="1"/>
          <p:nvPr/>
        </p:nvSpPr>
        <p:spPr>
          <a:xfrm>
            <a:off x="457200" y="123444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CLIENTE SSH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5"/>
          <p:cNvSpPr txBox="1"/>
          <p:nvPr/>
        </p:nvSpPr>
        <p:spPr>
          <a:xfrm>
            <a:off x="457200" y="169164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Programa que se ejecuta en nuestro ordenador para iniciar la conexión, indicando el nombre del servidor o su dirección IP.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5"/>
          <p:cNvSpPr/>
          <p:nvPr/>
        </p:nvSpPr>
        <p:spPr>
          <a:xfrm>
            <a:off x="457200" y="2560320"/>
            <a:ext cx="484632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5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9" name="Google Shape;61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880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35"/>
          <p:cNvSpPr txBox="1"/>
          <p:nvPr/>
        </p:nvSpPr>
        <p:spPr>
          <a:xfrm>
            <a:off x="1371600" y="26517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Desde la terminal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5"/>
          <p:cNvSpPr/>
          <p:nvPr/>
        </p:nvSpPr>
        <p:spPr>
          <a:xfrm>
            <a:off x="1371600" y="2990088"/>
            <a:ext cx="3749040" cy="329184"/>
          </a:xfrm>
          <a:prstGeom prst="roundRect">
            <a:avLst>
              <a:gd fmla="val 16667" name="adj"/>
            </a:avLst>
          </a:prstGeom>
          <a:solidFill>
            <a:srgbClr val="1F2433"/>
          </a:solidFill>
          <a:ln cap="flat" cmpd="sng" w="12700">
            <a:solidFill>
              <a:srgbClr val="1F24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5"/>
          <p:cNvSpPr txBox="1"/>
          <p:nvPr/>
        </p:nvSpPr>
        <p:spPr>
          <a:xfrm>
            <a:off x="1508760" y="2990088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D49B"/>
              </a:buClr>
              <a:buSzPts val="1200"/>
              <a:buFont typeface="Courier New"/>
              <a:buNone/>
            </a:pPr>
            <a:r>
              <a:rPr b="1" i="0" lang="es" sz="1200" u="none" cap="none" strike="noStrike">
                <a:solidFill>
                  <a:srgbClr val="3FD49B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i="0" lang="e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ssh usuario@ip_servidor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5"/>
          <p:cNvSpPr/>
          <p:nvPr/>
        </p:nvSpPr>
        <p:spPr>
          <a:xfrm>
            <a:off x="457200" y="3611880"/>
            <a:ext cx="484632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5"/>
          <p:cNvSpPr/>
          <p:nvPr/>
        </p:nvSpPr>
        <p:spPr>
          <a:xfrm>
            <a:off x="640080" y="3767328"/>
            <a:ext cx="548640" cy="548640"/>
          </a:xfrm>
          <a:prstGeom prst="ellipse">
            <a:avLst/>
          </a:prstGeom>
          <a:solidFill>
            <a:srgbClr val="1FAF7A"/>
          </a:solidFill>
          <a:ln cap="flat" cmpd="sng" w="9525">
            <a:solidFill>
              <a:srgbClr val="1FA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5" name="Google Shape;62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904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5"/>
          <p:cNvSpPr txBox="1"/>
          <p:nvPr/>
        </p:nvSpPr>
        <p:spPr>
          <a:xfrm>
            <a:off x="1371600" y="3703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Con una aplicación de terceros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5"/>
          <p:cNvSpPr txBox="1"/>
          <p:nvPr/>
        </p:nvSpPr>
        <p:spPr>
          <a:xfrm>
            <a:off x="1371600" y="400507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PuTTY: la misma conexión, pero de manera gráfica.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5"/>
          <p:cNvSpPr/>
          <p:nvPr/>
        </p:nvSpPr>
        <p:spPr>
          <a:xfrm>
            <a:off x="5623560" y="1234440"/>
            <a:ext cx="3063240" cy="3246120"/>
          </a:xfrm>
          <a:prstGeom prst="roundRect">
            <a:avLst>
              <a:gd fmla="val 2985" name="adj"/>
            </a:avLst>
          </a:prstGeom>
          <a:solidFill>
            <a:srgbClr val="FFFFFF"/>
          </a:solidFill>
          <a:ln cap="flat" cmpd="sng" w="9525">
            <a:solidFill>
              <a:srgbClr val="E2E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npacked/ppt/media/image1.png" id="629" name="Google Shape;62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6440" y="1371600"/>
            <a:ext cx="2697480" cy="258058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35"/>
          <p:cNvSpPr txBox="1"/>
          <p:nvPr/>
        </p:nvSpPr>
        <p:spPr>
          <a:xfrm>
            <a:off x="5623560" y="406908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475"/>
              </a:buClr>
              <a:buSzPts val="1000"/>
              <a:buFont typeface="Arial"/>
              <a:buNone/>
            </a:pPr>
            <a:r>
              <a:rPr b="0" i="1" lang="es" sz="1000" u="none" cap="none" strike="noStrike">
                <a:solidFill>
                  <a:srgbClr val="5D6475"/>
                </a:solidFill>
                <a:latin typeface="Arial"/>
                <a:ea typeface="Arial"/>
                <a:cs typeface="Arial"/>
                <a:sym typeface="Arial"/>
              </a:rPr>
              <a:t>Ventana de configuración de PuTTY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5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6"/>
          <p:cNvSpPr/>
          <p:nvPr/>
        </p:nvSpPr>
        <p:spPr>
          <a:xfrm>
            <a:off x="457200" y="228600"/>
            <a:ext cx="1051560" cy="237744"/>
          </a:xfrm>
          <a:prstGeom prst="roundRect">
            <a:avLst>
              <a:gd fmla="val 50000" name="adj"/>
            </a:avLst>
          </a:prstGeom>
          <a:solidFill>
            <a:srgbClr val="161A26"/>
          </a:solidFill>
          <a:ln cap="flat" cmpd="sng" w="9525">
            <a:solidFill>
              <a:srgbClr val="161A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6"/>
          <p:cNvSpPr txBox="1"/>
          <p:nvPr/>
        </p:nvSpPr>
        <p:spPr>
          <a:xfrm>
            <a:off x="457200" y="228600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urier New"/>
              <a:buNone/>
            </a:pPr>
            <a:r>
              <a:rPr b="1" i="0" lang="es" sz="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&lt;resumen/&gt;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6"/>
          <p:cNvSpPr txBox="1"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23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1E2230"/>
                </a:solidFill>
                <a:latin typeface="Arial"/>
                <a:ea typeface="Arial"/>
                <a:cs typeface="Arial"/>
                <a:sym typeface="Arial"/>
              </a:rPr>
              <a:t>HTTP vs SSH de un vistazo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40" name="Google Shape;640;p36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{37EB74F6-B1EC-4DE6-8422-5924D1800F88}</a:tableStyleId>
              </a:tblPr>
              <a:tblGrid>
                <a:gridCol w="2011675"/>
                <a:gridCol w="3108950"/>
                <a:gridCol w="3108950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e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 / HTTPS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60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e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SSH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AF7A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23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E22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¿Para qué sirve?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475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5D64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Intercambiar recursos web entre navegador y servidor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475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5D64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Administrar servidores de forma remota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23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E22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Puerto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475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5D64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 (HTTP) / 443 (HTTPS)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475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5D64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23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E22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Cifrado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475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5D64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Solo con HTTPS (TLS)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475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5D64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Siempre cifrado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23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E22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Herramienta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475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5D64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Navegador, APIs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475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5D64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Terminal o PuTTY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23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E22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475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5D64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https://www.ejemplo.com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D6475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5D64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ssh usuario@ip_servidor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137150" marL="137150" anchor="ctr">
                    <a:lnL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5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1" name="Google Shape;641;p36"/>
          <p:cNvSpPr txBox="1"/>
          <p:nvPr>
            <p:ph idx="4294967295" type="sldNum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9AA1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7"/>
          <p:cNvSpPr txBox="1"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7"/>
          <p:cNvSpPr txBox="1"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DCC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B7BDCC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b="0" i="0" lang="es" sz="2600" u="none" cap="none" strike="noStrike">
                <a:solidFill>
                  <a:srgbClr val="B7BDCC"/>
                </a:solidFill>
                <a:latin typeface="Arial"/>
                <a:ea typeface="Arial"/>
                <a:cs typeface="Arial"/>
                <a:sym typeface="Arial"/>
              </a:rPr>
              <a:t>Preguntas?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7"/>
          <p:cNvSpPr/>
          <p:nvPr/>
        </p:nvSpPr>
        <p:spPr>
          <a:xfrm>
            <a:off x="731520" y="3246120"/>
            <a:ext cx="4754880" cy="868680"/>
          </a:xfrm>
          <a:prstGeom prst="roundRect">
            <a:avLst>
              <a:gd fmla="val 10526" name="adj"/>
            </a:avLst>
          </a:prstGeom>
          <a:solidFill>
            <a:srgbClr val="1F2433"/>
          </a:solidFill>
          <a:ln cap="flat" cmpd="sng" w="12700">
            <a:solidFill>
              <a:srgbClr val="343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7"/>
          <p:cNvSpPr txBox="1"/>
          <p:nvPr/>
        </p:nvSpPr>
        <p:spPr>
          <a:xfrm>
            <a:off x="960120" y="3291840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03D"/>
              </a:buClr>
              <a:buSzPts val="1400"/>
              <a:buFont typeface="Courier New"/>
              <a:buNone/>
            </a:pPr>
            <a:r>
              <a:rPr b="1" i="0" lang="es" sz="1400" u="none" cap="none" strike="noStrike">
                <a:solidFill>
                  <a:srgbClr val="F2603D"/>
                </a:solidFill>
                <a:latin typeface="Courier New"/>
                <a:ea typeface="Courier New"/>
                <a:cs typeface="Courier New"/>
                <a:sym typeface="Courier New"/>
              </a:rPr>
              <a:t>GET /preguntas HTTP/1.1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FD49B"/>
              </a:buClr>
              <a:buSzPts val="1400"/>
              <a:buFont typeface="Courier New"/>
              <a:buNone/>
            </a:pPr>
            <a:r>
              <a:rPr b="1" i="0" lang="es" sz="1400" u="none" cap="none" strike="noStrike">
                <a:solidFill>
                  <a:srgbClr val="3FD49B"/>
                </a:solidFill>
                <a:latin typeface="Courier New"/>
                <a:ea typeface="Courier New"/>
                <a:cs typeface="Courier New"/>
                <a:sym typeface="Courier New"/>
              </a:rPr>
              <a:t>HTTP/1.1 200 OK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tocolos Web">
  <a:themeElements>
    <a:clrScheme name="Protocolos Web">
      <a:dk1>
        <a:srgbClr val="1E2230"/>
      </a:dk1>
      <a:lt1>
        <a:srgbClr val="FFFFFF"/>
      </a:lt1>
      <a:dk2>
        <a:srgbClr val="161A26"/>
      </a:dk2>
      <a:lt2>
        <a:srgbClr val="F5F6FA"/>
      </a:lt2>
      <a:accent1>
        <a:srgbClr val="F2603D"/>
      </a:accent1>
      <a:accent2>
        <a:srgbClr val="7B61FF"/>
      </a:accent2>
      <a:accent3>
        <a:srgbClr val="1FAF7A"/>
      </a:accent3>
      <a:accent4>
        <a:srgbClr val="2F80ED"/>
      </a:accent4>
      <a:accent5>
        <a:srgbClr val="E2961A"/>
      </a:accent5>
      <a:accent6>
        <a:srgbClr val="E5484D"/>
      </a:accent6>
      <a:hlink>
        <a:srgbClr val="2F80ED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